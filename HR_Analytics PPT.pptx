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67" r:id="rId20"/>
    <p:sldId id="268" r:id="rId21"/>
    <p:sldId id="269" r:id="rId22"/>
    <p:sldId id="270" r:id="rId23"/>
    <p:sldId id="271" r:id="rId2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610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karsha pazare" userId="a70c0c53b7fe67e3" providerId="LiveId" clId="{03BCBD31-804C-41C2-9622-5585DEEB5CE0}"/>
    <pc:docChg chg="custSel addSld modSld">
      <pc:chgData name="utkarsha pazare" userId="a70c0c53b7fe67e3" providerId="LiveId" clId="{03BCBD31-804C-41C2-9622-5585DEEB5CE0}" dt="2025-06-21T11:25:14.075" v="44" actId="1076"/>
      <pc:docMkLst>
        <pc:docMk/>
      </pc:docMkLst>
      <pc:sldChg chg="addSp delSp modSp new mod">
        <pc:chgData name="utkarsha pazare" userId="a70c0c53b7fe67e3" providerId="LiveId" clId="{03BCBD31-804C-41C2-9622-5585DEEB5CE0}" dt="2025-06-21T11:20:19.017" v="8" actId="1076"/>
        <pc:sldMkLst>
          <pc:docMk/>
          <pc:sldMk cId="205345441" sldId="274"/>
        </pc:sldMkLst>
        <pc:spChg chg="del">
          <ac:chgData name="utkarsha pazare" userId="a70c0c53b7fe67e3" providerId="LiveId" clId="{03BCBD31-804C-41C2-9622-5585DEEB5CE0}" dt="2025-06-21T11:20:11.757" v="7" actId="21"/>
          <ac:spMkLst>
            <pc:docMk/>
            <pc:sldMk cId="205345441" sldId="274"/>
            <ac:spMk id="2" creationId="{139DB7B0-28B3-50CA-BA9D-7308073A2D30}"/>
          </ac:spMkLst>
        </pc:spChg>
        <pc:picChg chg="add mod">
          <ac:chgData name="utkarsha pazare" userId="a70c0c53b7fe67e3" providerId="LiveId" clId="{03BCBD31-804C-41C2-9622-5585DEEB5CE0}" dt="2025-06-21T11:20:19.017" v="8" actId="1076"/>
          <ac:picMkLst>
            <pc:docMk/>
            <pc:sldMk cId="205345441" sldId="274"/>
            <ac:picMk id="5" creationId="{AF719468-8F4C-AC80-AAB4-69A1CF289A6E}"/>
          </ac:picMkLst>
        </pc:picChg>
      </pc:sldChg>
      <pc:sldChg chg="addSp delSp modSp new mod">
        <pc:chgData name="utkarsha pazare" userId="a70c0c53b7fe67e3" providerId="LiveId" clId="{03BCBD31-804C-41C2-9622-5585DEEB5CE0}" dt="2025-06-21T11:21:10.926" v="14" actId="14100"/>
        <pc:sldMkLst>
          <pc:docMk/>
          <pc:sldMk cId="4201702845" sldId="275"/>
        </pc:sldMkLst>
        <pc:spChg chg="del">
          <ac:chgData name="utkarsha pazare" userId="a70c0c53b7fe67e3" providerId="LiveId" clId="{03BCBD31-804C-41C2-9622-5585DEEB5CE0}" dt="2025-06-21T11:20:36.617" v="10" actId="21"/>
          <ac:spMkLst>
            <pc:docMk/>
            <pc:sldMk cId="4201702845" sldId="275"/>
            <ac:spMk id="2" creationId="{A24E1060-29A3-65E5-2773-B1D77E1E67A8}"/>
          </ac:spMkLst>
        </pc:spChg>
        <pc:picChg chg="add mod">
          <ac:chgData name="utkarsha pazare" userId="a70c0c53b7fe67e3" providerId="LiveId" clId="{03BCBD31-804C-41C2-9622-5585DEEB5CE0}" dt="2025-06-21T11:21:10.926" v="14" actId="14100"/>
          <ac:picMkLst>
            <pc:docMk/>
            <pc:sldMk cId="4201702845" sldId="275"/>
            <ac:picMk id="5" creationId="{AC897218-BD42-1FA0-36C5-D0A98AD1A30B}"/>
          </ac:picMkLst>
        </pc:picChg>
      </pc:sldChg>
      <pc:sldChg chg="addSp delSp modSp new mod">
        <pc:chgData name="utkarsha pazare" userId="a70c0c53b7fe67e3" providerId="LiveId" clId="{03BCBD31-804C-41C2-9622-5585DEEB5CE0}" dt="2025-06-21T11:21:57.781" v="19" actId="14100"/>
        <pc:sldMkLst>
          <pc:docMk/>
          <pc:sldMk cId="2867997451" sldId="276"/>
        </pc:sldMkLst>
        <pc:spChg chg="del">
          <ac:chgData name="utkarsha pazare" userId="a70c0c53b7fe67e3" providerId="LiveId" clId="{03BCBD31-804C-41C2-9622-5585DEEB5CE0}" dt="2025-06-21T11:21:33.838" v="16" actId="21"/>
          <ac:spMkLst>
            <pc:docMk/>
            <pc:sldMk cId="2867997451" sldId="276"/>
            <ac:spMk id="2" creationId="{7C64D858-F4BC-2150-31CF-58BE36B54686}"/>
          </ac:spMkLst>
        </pc:spChg>
        <pc:picChg chg="add mod">
          <ac:chgData name="utkarsha pazare" userId="a70c0c53b7fe67e3" providerId="LiveId" clId="{03BCBD31-804C-41C2-9622-5585DEEB5CE0}" dt="2025-06-21T11:21:57.781" v="19" actId="14100"/>
          <ac:picMkLst>
            <pc:docMk/>
            <pc:sldMk cId="2867997451" sldId="276"/>
            <ac:picMk id="5" creationId="{978F4C03-45A6-BEA2-0ECB-06DE2E358FA9}"/>
          </ac:picMkLst>
        </pc:picChg>
      </pc:sldChg>
      <pc:sldChg chg="addSp delSp modSp new mod">
        <pc:chgData name="utkarsha pazare" userId="a70c0c53b7fe67e3" providerId="LiveId" clId="{03BCBD31-804C-41C2-9622-5585DEEB5CE0}" dt="2025-06-21T11:23:23.851" v="28" actId="14100"/>
        <pc:sldMkLst>
          <pc:docMk/>
          <pc:sldMk cId="959222356" sldId="277"/>
        </pc:sldMkLst>
        <pc:spChg chg="del">
          <ac:chgData name="utkarsha pazare" userId="a70c0c53b7fe67e3" providerId="LiveId" clId="{03BCBD31-804C-41C2-9622-5585DEEB5CE0}" dt="2025-06-21T11:23:05.165" v="24" actId="21"/>
          <ac:spMkLst>
            <pc:docMk/>
            <pc:sldMk cId="959222356" sldId="277"/>
            <ac:spMk id="2" creationId="{EA46D8D8-1FC1-C80E-9265-1CFD3D3D28A2}"/>
          </ac:spMkLst>
        </pc:spChg>
        <pc:picChg chg="add del mod">
          <ac:chgData name="utkarsha pazare" userId="a70c0c53b7fe67e3" providerId="LiveId" clId="{03BCBD31-804C-41C2-9622-5585DEEB5CE0}" dt="2025-06-21T11:22:44.584" v="22" actId="21"/>
          <ac:picMkLst>
            <pc:docMk/>
            <pc:sldMk cId="959222356" sldId="277"/>
            <ac:picMk id="5" creationId="{7B2657A8-109A-3AD1-7957-EE64017B53B7}"/>
          </ac:picMkLst>
        </pc:picChg>
        <pc:picChg chg="add mod">
          <ac:chgData name="utkarsha pazare" userId="a70c0c53b7fe67e3" providerId="LiveId" clId="{03BCBD31-804C-41C2-9622-5585DEEB5CE0}" dt="2025-06-21T11:23:23.851" v="28" actId="14100"/>
          <ac:picMkLst>
            <pc:docMk/>
            <pc:sldMk cId="959222356" sldId="277"/>
            <ac:picMk id="7" creationId="{EE24C4E7-1FD3-4611-A008-8CA6F0596CF2}"/>
          </ac:picMkLst>
        </pc:picChg>
      </pc:sldChg>
      <pc:sldChg chg="addSp delSp modSp new mod">
        <pc:chgData name="utkarsha pazare" userId="a70c0c53b7fe67e3" providerId="LiveId" clId="{03BCBD31-804C-41C2-9622-5585DEEB5CE0}" dt="2025-06-21T11:24:16.332" v="36" actId="1076"/>
        <pc:sldMkLst>
          <pc:docMk/>
          <pc:sldMk cId="613812124" sldId="278"/>
        </pc:sldMkLst>
        <pc:spChg chg="del">
          <ac:chgData name="utkarsha pazare" userId="a70c0c53b7fe67e3" providerId="LiveId" clId="{03BCBD31-804C-41C2-9622-5585DEEB5CE0}" dt="2025-06-21T11:23:33.030" v="30" actId="21"/>
          <ac:spMkLst>
            <pc:docMk/>
            <pc:sldMk cId="613812124" sldId="278"/>
            <ac:spMk id="2" creationId="{D6CE4274-EB57-F1DA-C565-B13F4AF8B778}"/>
          </ac:spMkLst>
        </pc:spChg>
        <pc:picChg chg="add mod">
          <ac:chgData name="utkarsha pazare" userId="a70c0c53b7fe67e3" providerId="LiveId" clId="{03BCBD31-804C-41C2-9622-5585DEEB5CE0}" dt="2025-06-21T11:24:16.332" v="36" actId="1076"/>
          <ac:picMkLst>
            <pc:docMk/>
            <pc:sldMk cId="613812124" sldId="278"/>
            <ac:picMk id="5" creationId="{7111DE71-C65F-CDD5-DA14-693DC56FB643}"/>
          </ac:picMkLst>
        </pc:picChg>
      </pc:sldChg>
      <pc:sldChg chg="addSp delSp modSp new mod">
        <pc:chgData name="utkarsha pazare" userId="a70c0c53b7fe67e3" providerId="LiveId" clId="{03BCBD31-804C-41C2-9622-5585DEEB5CE0}" dt="2025-06-21T11:25:14.075" v="44" actId="1076"/>
        <pc:sldMkLst>
          <pc:docMk/>
          <pc:sldMk cId="1550316918" sldId="279"/>
        </pc:sldMkLst>
        <pc:spChg chg="del">
          <ac:chgData name="utkarsha pazare" userId="a70c0c53b7fe67e3" providerId="LiveId" clId="{03BCBD31-804C-41C2-9622-5585DEEB5CE0}" dt="2025-06-21T11:24:35.596" v="38" actId="21"/>
          <ac:spMkLst>
            <pc:docMk/>
            <pc:sldMk cId="1550316918" sldId="279"/>
            <ac:spMk id="2" creationId="{05768134-5B8E-7198-035C-684B11290A4A}"/>
          </ac:spMkLst>
        </pc:spChg>
        <pc:picChg chg="add mod">
          <ac:chgData name="utkarsha pazare" userId="a70c0c53b7fe67e3" providerId="LiveId" clId="{03BCBD31-804C-41C2-9622-5585DEEB5CE0}" dt="2025-06-21T11:25:14.075" v="44" actId="1076"/>
          <ac:picMkLst>
            <pc:docMk/>
            <pc:sldMk cId="1550316918" sldId="279"/>
            <ac:picMk id="5" creationId="{703653E3-6D11-B5B1-5D06-5168DA387A8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79534" y="4026547"/>
            <a:ext cx="6725920" cy="18789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80724" y="-54800"/>
            <a:ext cx="13035532" cy="2378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0282" y="2370902"/>
            <a:ext cx="14964062" cy="66319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52400" y="2324100"/>
            <a:ext cx="8815530" cy="1884490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sz="6700" spc="-545" dirty="0">
                <a:latin typeface="Georgia"/>
                <a:cs typeface="Georgia"/>
              </a:rPr>
              <a:t>HR</a:t>
            </a:r>
            <a:r>
              <a:rPr sz="6700" spc="-495" dirty="0">
                <a:latin typeface="Georgia"/>
                <a:cs typeface="Georgia"/>
              </a:rPr>
              <a:t> </a:t>
            </a:r>
            <a:r>
              <a:rPr lang="en-US" sz="6700" spc="-495" dirty="0">
                <a:latin typeface="Georgia"/>
                <a:cs typeface="Georgia"/>
              </a:rPr>
              <a:t> </a:t>
            </a:r>
            <a:r>
              <a:rPr sz="6700" spc="-90" dirty="0">
                <a:latin typeface="Georgia"/>
                <a:cs typeface="Georgia"/>
              </a:rPr>
              <a:t>ANALYTICS</a:t>
            </a:r>
            <a:endParaRPr sz="6700" dirty="0">
              <a:latin typeface="Georgia"/>
              <a:cs typeface="Georgia"/>
            </a:endParaRPr>
          </a:p>
          <a:p>
            <a:pPr marL="95250">
              <a:lnSpc>
                <a:spcPct val="100000"/>
              </a:lnSpc>
              <a:spcBef>
                <a:spcPts val="590"/>
              </a:spcBef>
            </a:pPr>
            <a:r>
              <a:rPr sz="4200" b="0" spc="-140" dirty="0">
                <a:latin typeface="Georgia"/>
                <a:cs typeface="Georgia"/>
              </a:rPr>
              <a:t>Employee</a:t>
            </a:r>
            <a:r>
              <a:rPr sz="4200" b="0" spc="-235" dirty="0">
                <a:latin typeface="Georgia"/>
                <a:cs typeface="Georgia"/>
              </a:rPr>
              <a:t> </a:t>
            </a:r>
            <a:r>
              <a:rPr sz="4200" b="0" spc="-10" dirty="0">
                <a:latin typeface="Georgia"/>
                <a:cs typeface="Georgia"/>
              </a:rPr>
              <a:t>Retention</a:t>
            </a:r>
            <a:endParaRPr sz="4200" b="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245786" y="1042479"/>
            <a:ext cx="4128135" cy="1342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8650" spc="-175" dirty="0">
                <a:latin typeface="Georgia"/>
                <a:cs typeface="Georgia"/>
              </a:rPr>
              <a:t>Agenda</a:t>
            </a:r>
            <a:endParaRPr sz="865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56384" y="4117422"/>
            <a:ext cx="7028180" cy="545973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705485" indent="-541655">
              <a:lnSpc>
                <a:spcPts val="7130"/>
              </a:lnSpc>
              <a:spcBef>
                <a:spcPts val="114"/>
              </a:spcBef>
              <a:buAutoNum type="arabicPeriod"/>
              <a:tabLst>
                <a:tab pos="705485" algn="l"/>
              </a:tabLst>
            </a:pPr>
            <a:r>
              <a:rPr sz="5950" spc="-10" dirty="0">
                <a:solidFill>
                  <a:srgbClr val="FFFFFF"/>
                </a:solidFill>
                <a:latin typeface="Georgia"/>
                <a:cs typeface="Georgia"/>
              </a:rPr>
              <a:t>Introduction</a:t>
            </a:r>
            <a:endParaRPr sz="5950" dirty="0">
              <a:latin typeface="Georgia"/>
              <a:cs typeface="Georgia"/>
            </a:endParaRPr>
          </a:p>
          <a:p>
            <a:pPr marL="704850" indent="-656590">
              <a:lnSpc>
                <a:spcPts val="7125"/>
              </a:lnSpc>
              <a:buAutoNum type="arabicPeriod"/>
              <a:tabLst>
                <a:tab pos="704850" algn="l"/>
              </a:tabLst>
            </a:pPr>
            <a:r>
              <a:rPr sz="5950" spc="-75" dirty="0">
                <a:solidFill>
                  <a:srgbClr val="FFFFFF"/>
                </a:solidFill>
                <a:latin typeface="Georgia"/>
                <a:cs typeface="Georgia"/>
              </a:rPr>
              <a:t>Problem</a:t>
            </a:r>
            <a:r>
              <a:rPr sz="5950" spc="-2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950" spc="-45" dirty="0">
                <a:solidFill>
                  <a:srgbClr val="FFFFFF"/>
                </a:solidFill>
                <a:latin typeface="Georgia"/>
                <a:cs typeface="Georgia"/>
              </a:rPr>
              <a:t>Statement</a:t>
            </a:r>
            <a:endParaRPr sz="5950" dirty="0">
              <a:latin typeface="Georgia"/>
              <a:cs typeface="Georgia"/>
            </a:endParaRPr>
          </a:p>
          <a:p>
            <a:pPr marL="704850" indent="-662305">
              <a:lnSpc>
                <a:spcPts val="7125"/>
              </a:lnSpc>
              <a:buAutoNum type="arabicPeriod"/>
              <a:tabLst>
                <a:tab pos="704850" algn="l"/>
              </a:tabLst>
            </a:pPr>
            <a:r>
              <a:rPr sz="5950" spc="-20" dirty="0">
                <a:solidFill>
                  <a:srgbClr val="FFFFFF"/>
                </a:solidFill>
                <a:latin typeface="Georgia"/>
                <a:cs typeface="Georgia"/>
              </a:rPr>
              <a:t>Business</a:t>
            </a:r>
            <a:r>
              <a:rPr sz="5950" spc="-3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950" spc="-10" dirty="0">
                <a:solidFill>
                  <a:srgbClr val="FFFFFF"/>
                </a:solidFill>
                <a:latin typeface="Georgia"/>
                <a:cs typeface="Georgia"/>
              </a:rPr>
              <a:t>Objective</a:t>
            </a:r>
            <a:endParaRPr sz="5950" dirty="0">
              <a:latin typeface="Georgia"/>
              <a:cs typeface="Georgia"/>
            </a:endParaRPr>
          </a:p>
          <a:p>
            <a:pPr marL="704215" indent="-679450">
              <a:lnSpc>
                <a:spcPts val="7125"/>
              </a:lnSpc>
              <a:buAutoNum type="arabicPeriod"/>
              <a:tabLst>
                <a:tab pos="704215" algn="l"/>
              </a:tabLst>
            </a:pPr>
            <a:r>
              <a:rPr sz="5950" spc="-425" dirty="0">
                <a:solidFill>
                  <a:srgbClr val="FFFFFF"/>
                </a:solidFill>
                <a:latin typeface="Georgia"/>
                <a:cs typeface="Georgia"/>
              </a:rPr>
              <a:t>KPIS</a:t>
            </a:r>
            <a:endParaRPr sz="5950" dirty="0">
              <a:latin typeface="Georgia"/>
              <a:cs typeface="Georgia"/>
            </a:endParaRPr>
          </a:p>
          <a:p>
            <a:pPr marL="704850" indent="-678180">
              <a:lnSpc>
                <a:spcPts val="7125"/>
              </a:lnSpc>
              <a:buAutoNum type="arabicPeriod"/>
              <a:tabLst>
                <a:tab pos="704850" algn="l"/>
              </a:tabLst>
            </a:pPr>
            <a:r>
              <a:rPr sz="5950" spc="-10" dirty="0">
                <a:solidFill>
                  <a:srgbClr val="FFFFFF"/>
                </a:solidFill>
                <a:latin typeface="Georgia"/>
                <a:cs typeface="Georgia"/>
              </a:rPr>
              <a:t>DashBoard</a:t>
            </a:r>
            <a:endParaRPr sz="5950" dirty="0">
              <a:latin typeface="Georgia"/>
              <a:cs typeface="Georgia"/>
            </a:endParaRPr>
          </a:p>
          <a:p>
            <a:pPr marL="12700">
              <a:lnSpc>
                <a:spcPts val="7134"/>
              </a:lnSpc>
            </a:pPr>
            <a:r>
              <a:rPr sz="5950" spc="-60" dirty="0">
                <a:solidFill>
                  <a:srgbClr val="FFFFFF"/>
                </a:solidFill>
                <a:latin typeface="Georgia"/>
                <a:cs typeface="Georgia"/>
              </a:rPr>
              <a:t>9.</a:t>
            </a:r>
            <a:r>
              <a:rPr sz="5950" spc="-83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5950" spc="-10" dirty="0">
                <a:solidFill>
                  <a:srgbClr val="FFFFFF"/>
                </a:solidFill>
                <a:latin typeface="Georgia"/>
                <a:cs typeface="Georgia"/>
              </a:rPr>
              <a:t>Conclusion</a:t>
            </a:r>
            <a:endParaRPr sz="595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14230" y="1899822"/>
            <a:ext cx="15523210" cy="81813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>
              <a:lnSpc>
                <a:spcPts val="7120"/>
              </a:lnSpc>
              <a:spcBef>
                <a:spcPts val="180"/>
              </a:spcBef>
            </a:pPr>
            <a:r>
              <a:rPr sz="5000" spc="630" dirty="0">
                <a:latin typeface="Cambria"/>
                <a:cs typeface="Cambria"/>
              </a:rPr>
              <a:t>HR</a:t>
            </a:r>
            <a:r>
              <a:rPr sz="5000" spc="5" dirty="0">
                <a:latin typeface="Cambria"/>
                <a:cs typeface="Cambria"/>
              </a:rPr>
              <a:t> </a:t>
            </a:r>
            <a:r>
              <a:rPr sz="5000" spc="325" dirty="0">
                <a:latin typeface="Cambria"/>
                <a:cs typeface="Cambria"/>
              </a:rPr>
              <a:t>analytics</a:t>
            </a:r>
            <a:r>
              <a:rPr sz="5000" spc="10" dirty="0">
                <a:latin typeface="Cambria"/>
                <a:cs typeface="Cambria"/>
              </a:rPr>
              <a:t> </a:t>
            </a:r>
            <a:r>
              <a:rPr sz="5000" spc="340" dirty="0">
                <a:latin typeface="Cambria"/>
                <a:cs typeface="Cambria"/>
              </a:rPr>
              <a:t>involves</a:t>
            </a:r>
            <a:r>
              <a:rPr sz="5000" spc="5" dirty="0">
                <a:latin typeface="Cambria"/>
                <a:cs typeface="Cambria"/>
              </a:rPr>
              <a:t> </a:t>
            </a:r>
            <a:r>
              <a:rPr sz="5000" spc="360" dirty="0">
                <a:latin typeface="Cambria"/>
                <a:cs typeface="Cambria"/>
              </a:rPr>
              <a:t>the</a:t>
            </a:r>
            <a:r>
              <a:rPr sz="5000" spc="10" dirty="0">
                <a:latin typeface="Cambria"/>
                <a:cs typeface="Cambria"/>
              </a:rPr>
              <a:t> </a:t>
            </a:r>
            <a:r>
              <a:rPr sz="5000" spc="330" dirty="0">
                <a:latin typeface="Cambria"/>
                <a:cs typeface="Cambria"/>
              </a:rPr>
              <a:t>collection</a:t>
            </a:r>
            <a:r>
              <a:rPr sz="5000" spc="5" dirty="0">
                <a:latin typeface="Cambria"/>
                <a:cs typeface="Cambria"/>
              </a:rPr>
              <a:t> </a:t>
            </a:r>
            <a:r>
              <a:rPr sz="5000" spc="370" dirty="0">
                <a:latin typeface="Cambria"/>
                <a:cs typeface="Cambria"/>
              </a:rPr>
              <a:t>and</a:t>
            </a:r>
            <a:r>
              <a:rPr sz="5000" spc="10" dirty="0">
                <a:latin typeface="Cambria"/>
                <a:cs typeface="Cambria"/>
              </a:rPr>
              <a:t> </a:t>
            </a:r>
            <a:r>
              <a:rPr sz="5000" spc="300" dirty="0">
                <a:latin typeface="Cambria"/>
                <a:cs typeface="Cambria"/>
              </a:rPr>
              <a:t>analysis</a:t>
            </a:r>
            <a:r>
              <a:rPr sz="5000" spc="5" dirty="0">
                <a:latin typeface="Cambria"/>
                <a:cs typeface="Cambria"/>
              </a:rPr>
              <a:t> </a:t>
            </a:r>
            <a:r>
              <a:rPr sz="5000" spc="215" dirty="0">
                <a:latin typeface="Cambria"/>
                <a:cs typeface="Cambria"/>
              </a:rPr>
              <a:t>o </a:t>
            </a:r>
            <a:r>
              <a:rPr sz="5000" spc="480" dirty="0">
                <a:latin typeface="Cambria"/>
                <a:cs typeface="Cambria"/>
              </a:rPr>
              <a:t>HR-</a:t>
            </a:r>
            <a:r>
              <a:rPr sz="5000" spc="280" dirty="0">
                <a:latin typeface="Cambria"/>
                <a:cs typeface="Cambria"/>
              </a:rPr>
              <a:t>related</a:t>
            </a:r>
            <a:r>
              <a:rPr sz="5000" spc="15" dirty="0">
                <a:latin typeface="Cambria"/>
                <a:cs typeface="Cambria"/>
              </a:rPr>
              <a:t> </a:t>
            </a:r>
            <a:r>
              <a:rPr sz="5000" spc="370" dirty="0">
                <a:latin typeface="Cambria"/>
                <a:cs typeface="Cambria"/>
              </a:rPr>
              <a:t>data,</a:t>
            </a:r>
            <a:r>
              <a:rPr sz="5000" spc="15" dirty="0">
                <a:latin typeface="Cambria"/>
                <a:cs typeface="Cambria"/>
              </a:rPr>
              <a:t> </a:t>
            </a:r>
            <a:r>
              <a:rPr sz="5000" spc="380" dirty="0">
                <a:latin typeface="Cambria"/>
                <a:cs typeface="Cambria"/>
              </a:rPr>
              <a:t>including</a:t>
            </a:r>
            <a:r>
              <a:rPr sz="5000" spc="15" dirty="0">
                <a:latin typeface="Cambria"/>
                <a:cs typeface="Cambria"/>
              </a:rPr>
              <a:t> </a:t>
            </a:r>
            <a:r>
              <a:rPr sz="5000" spc="325" dirty="0">
                <a:latin typeface="Cambria"/>
                <a:cs typeface="Cambria"/>
              </a:rPr>
              <a:t>employee</a:t>
            </a:r>
            <a:r>
              <a:rPr sz="5000" spc="15" dirty="0">
                <a:latin typeface="Cambria"/>
                <a:cs typeface="Cambria"/>
              </a:rPr>
              <a:t> </a:t>
            </a:r>
            <a:r>
              <a:rPr sz="5000" spc="360" dirty="0">
                <a:latin typeface="Cambria"/>
                <a:cs typeface="Cambria"/>
              </a:rPr>
              <a:t>data, performance</a:t>
            </a:r>
            <a:r>
              <a:rPr sz="5000" spc="5" dirty="0">
                <a:latin typeface="Cambria"/>
                <a:cs typeface="Cambria"/>
              </a:rPr>
              <a:t> </a:t>
            </a:r>
            <a:r>
              <a:rPr sz="5000" spc="370" dirty="0">
                <a:latin typeface="Cambria"/>
                <a:cs typeface="Cambria"/>
              </a:rPr>
              <a:t>metrics,</a:t>
            </a:r>
            <a:r>
              <a:rPr sz="5000" spc="10" dirty="0">
                <a:latin typeface="Cambria"/>
                <a:cs typeface="Cambria"/>
              </a:rPr>
              <a:t> </a:t>
            </a:r>
            <a:r>
              <a:rPr sz="5000" spc="370" dirty="0">
                <a:latin typeface="Cambria"/>
                <a:cs typeface="Cambria"/>
              </a:rPr>
              <a:t>and</a:t>
            </a:r>
            <a:r>
              <a:rPr sz="5000" spc="5" dirty="0">
                <a:latin typeface="Cambria"/>
                <a:cs typeface="Cambria"/>
              </a:rPr>
              <a:t> </a:t>
            </a:r>
            <a:r>
              <a:rPr sz="5000" spc="345" dirty="0">
                <a:latin typeface="Cambria"/>
                <a:cs typeface="Cambria"/>
              </a:rPr>
              <a:t>other</a:t>
            </a:r>
            <a:r>
              <a:rPr sz="5000" spc="10" dirty="0">
                <a:latin typeface="Cambria"/>
                <a:cs typeface="Cambria"/>
              </a:rPr>
              <a:t> </a:t>
            </a:r>
            <a:r>
              <a:rPr sz="5000" spc="335" dirty="0">
                <a:latin typeface="Cambria"/>
                <a:cs typeface="Cambria"/>
              </a:rPr>
              <a:t>relevant</a:t>
            </a:r>
            <a:r>
              <a:rPr sz="5000" spc="5" dirty="0">
                <a:latin typeface="Cambria"/>
                <a:cs typeface="Cambria"/>
              </a:rPr>
              <a:t> </a:t>
            </a:r>
            <a:r>
              <a:rPr sz="5000" spc="285" dirty="0">
                <a:latin typeface="Cambria"/>
                <a:cs typeface="Cambria"/>
              </a:rPr>
              <a:t>data </a:t>
            </a:r>
            <a:r>
              <a:rPr sz="5000" spc="380" dirty="0">
                <a:latin typeface="Cambria"/>
                <a:cs typeface="Cambria"/>
              </a:rPr>
              <a:t>points.</a:t>
            </a:r>
            <a:r>
              <a:rPr sz="5000" dirty="0">
                <a:latin typeface="Cambria"/>
                <a:cs typeface="Cambria"/>
              </a:rPr>
              <a:t> </a:t>
            </a:r>
            <a:r>
              <a:rPr sz="5000" spc="290" dirty="0">
                <a:latin typeface="Cambria"/>
                <a:cs typeface="Cambria"/>
              </a:rPr>
              <a:t>By</a:t>
            </a:r>
            <a:r>
              <a:rPr sz="5000" spc="5" dirty="0">
                <a:latin typeface="Cambria"/>
                <a:cs typeface="Cambria"/>
              </a:rPr>
              <a:t> </a:t>
            </a:r>
            <a:r>
              <a:rPr sz="5000" spc="345" dirty="0">
                <a:latin typeface="Cambria"/>
                <a:cs typeface="Cambria"/>
              </a:rPr>
              <a:t>using</a:t>
            </a:r>
            <a:r>
              <a:rPr sz="5000" dirty="0">
                <a:latin typeface="Cambria"/>
                <a:cs typeface="Cambria"/>
              </a:rPr>
              <a:t> </a:t>
            </a:r>
            <a:r>
              <a:rPr sz="5000" spc="340" dirty="0">
                <a:latin typeface="Cambria"/>
                <a:cs typeface="Cambria"/>
              </a:rPr>
              <a:t>advanced</a:t>
            </a:r>
            <a:r>
              <a:rPr sz="5000" spc="5" dirty="0">
                <a:latin typeface="Cambria"/>
                <a:cs typeface="Cambria"/>
              </a:rPr>
              <a:t> </a:t>
            </a:r>
            <a:r>
              <a:rPr sz="5000" spc="340" dirty="0">
                <a:latin typeface="Cambria"/>
                <a:cs typeface="Cambria"/>
              </a:rPr>
              <a:t>analytical</a:t>
            </a:r>
            <a:r>
              <a:rPr sz="5000" spc="5" dirty="0">
                <a:latin typeface="Cambria"/>
                <a:cs typeface="Cambria"/>
              </a:rPr>
              <a:t> </a:t>
            </a:r>
            <a:r>
              <a:rPr sz="5000" spc="285" dirty="0">
                <a:latin typeface="Cambria"/>
                <a:cs typeface="Cambria"/>
              </a:rPr>
              <a:t>tools</a:t>
            </a:r>
            <a:r>
              <a:rPr sz="5000" dirty="0">
                <a:latin typeface="Cambria"/>
                <a:cs typeface="Cambria"/>
              </a:rPr>
              <a:t> </a:t>
            </a:r>
            <a:r>
              <a:rPr sz="5000" spc="345" dirty="0">
                <a:latin typeface="Cambria"/>
                <a:cs typeface="Cambria"/>
              </a:rPr>
              <a:t>and </a:t>
            </a:r>
            <a:r>
              <a:rPr sz="5000" spc="360" dirty="0">
                <a:latin typeface="Cambria"/>
                <a:cs typeface="Cambria"/>
              </a:rPr>
              <a:t>techniques,</a:t>
            </a:r>
            <a:r>
              <a:rPr sz="5000" spc="15" dirty="0">
                <a:latin typeface="Cambria"/>
                <a:cs typeface="Cambria"/>
              </a:rPr>
              <a:t> </a:t>
            </a:r>
            <a:r>
              <a:rPr sz="5000" spc="630" dirty="0">
                <a:latin typeface="Cambria"/>
                <a:cs typeface="Cambria"/>
              </a:rPr>
              <a:t>HR</a:t>
            </a:r>
            <a:r>
              <a:rPr sz="5000" spc="15" dirty="0">
                <a:latin typeface="Cambria"/>
                <a:cs typeface="Cambria"/>
              </a:rPr>
              <a:t> </a:t>
            </a:r>
            <a:r>
              <a:rPr sz="5000" spc="325" dirty="0">
                <a:latin typeface="Cambria"/>
                <a:cs typeface="Cambria"/>
              </a:rPr>
              <a:t>analytics</a:t>
            </a:r>
            <a:r>
              <a:rPr sz="5000" spc="20" dirty="0">
                <a:latin typeface="Cambria"/>
                <a:cs typeface="Cambria"/>
              </a:rPr>
              <a:t> </a:t>
            </a:r>
            <a:r>
              <a:rPr sz="5000" spc="295" dirty="0">
                <a:latin typeface="Cambria"/>
                <a:cs typeface="Cambria"/>
              </a:rPr>
              <a:t>provides</a:t>
            </a:r>
            <a:r>
              <a:rPr sz="5000" spc="15" dirty="0">
                <a:latin typeface="Cambria"/>
                <a:cs typeface="Cambria"/>
              </a:rPr>
              <a:t> </a:t>
            </a:r>
            <a:r>
              <a:rPr sz="5000" spc="325" dirty="0">
                <a:latin typeface="Cambria"/>
                <a:cs typeface="Cambria"/>
              </a:rPr>
              <a:t>valuable</a:t>
            </a:r>
            <a:r>
              <a:rPr sz="5000" spc="15" dirty="0">
                <a:latin typeface="Cambria"/>
                <a:cs typeface="Cambria"/>
              </a:rPr>
              <a:t> </a:t>
            </a:r>
            <a:r>
              <a:rPr sz="5000" spc="350" dirty="0">
                <a:latin typeface="Cambria"/>
                <a:cs typeface="Cambria"/>
              </a:rPr>
              <a:t>insigh </a:t>
            </a:r>
            <a:r>
              <a:rPr sz="5000" spc="370" dirty="0">
                <a:latin typeface="Cambria"/>
                <a:cs typeface="Cambria"/>
              </a:rPr>
              <a:t>into</a:t>
            </a:r>
            <a:r>
              <a:rPr sz="5000" spc="-5" dirty="0">
                <a:latin typeface="Cambria"/>
                <a:cs typeface="Cambria"/>
              </a:rPr>
              <a:t> </a:t>
            </a:r>
            <a:r>
              <a:rPr sz="5000" spc="630" dirty="0">
                <a:latin typeface="Cambria"/>
                <a:cs typeface="Cambria"/>
              </a:rPr>
              <a:t>HR</a:t>
            </a:r>
            <a:r>
              <a:rPr sz="5000" dirty="0">
                <a:latin typeface="Cambria"/>
                <a:cs typeface="Cambria"/>
              </a:rPr>
              <a:t> </a:t>
            </a:r>
            <a:r>
              <a:rPr sz="5000" spc="235" dirty="0">
                <a:latin typeface="Cambria"/>
                <a:cs typeface="Cambria"/>
              </a:rPr>
              <a:t>processes</a:t>
            </a:r>
            <a:r>
              <a:rPr sz="5000" dirty="0">
                <a:latin typeface="Cambria"/>
                <a:cs typeface="Cambria"/>
              </a:rPr>
              <a:t> </a:t>
            </a:r>
            <a:r>
              <a:rPr sz="5000" spc="370" dirty="0">
                <a:latin typeface="Cambria"/>
                <a:cs typeface="Cambria"/>
              </a:rPr>
              <a:t>and</a:t>
            </a:r>
            <a:r>
              <a:rPr sz="5000" dirty="0">
                <a:latin typeface="Cambria"/>
                <a:cs typeface="Cambria"/>
              </a:rPr>
              <a:t> </a:t>
            </a:r>
            <a:r>
              <a:rPr sz="5000" spc="355" dirty="0">
                <a:latin typeface="Cambria"/>
                <a:cs typeface="Cambria"/>
              </a:rPr>
              <a:t>trends,</a:t>
            </a:r>
            <a:r>
              <a:rPr sz="5000" dirty="0">
                <a:latin typeface="Cambria"/>
                <a:cs typeface="Cambria"/>
              </a:rPr>
              <a:t> </a:t>
            </a:r>
            <a:r>
              <a:rPr sz="5000" spc="345" dirty="0">
                <a:latin typeface="Cambria"/>
                <a:cs typeface="Cambria"/>
              </a:rPr>
              <a:t>enabling </a:t>
            </a:r>
            <a:r>
              <a:rPr sz="5000" spc="325" dirty="0">
                <a:latin typeface="Cambria"/>
                <a:cs typeface="Cambria"/>
              </a:rPr>
              <a:t>organizations</a:t>
            </a:r>
            <a:r>
              <a:rPr sz="5000" spc="-5" dirty="0">
                <a:latin typeface="Cambria"/>
                <a:cs typeface="Cambria"/>
              </a:rPr>
              <a:t> </a:t>
            </a:r>
            <a:r>
              <a:rPr sz="5000" spc="315" dirty="0">
                <a:latin typeface="Cambria"/>
                <a:cs typeface="Cambria"/>
              </a:rPr>
              <a:t>to</a:t>
            </a:r>
            <a:r>
              <a:rPr sz="5000" dirty="0">
                <a:latin typeface="Cambria"/>
                <a:cs typeface="Cambria"/>
              </a:rPr>
              <a:t> </a:t>
            </a:r>
            <a:r>
              <a:rPr sz="5000" spc="400" dirty="0">
                <a:latin typeface="Cambria"/>
                <a:cs typeface="Cambria"/>
              </a:rPr>
              <a:t>make</a:t>
            </a:r>
            <a:r>
              <a:rPr sz="5000" spc="-5" dirty="0">
                <a:latin typeface="Cambria"/>
                <a:cs typeface="Cambria"/>
              </a:rPr>
              <a:t> </a:t>
            </a:r>
            <a:r>
              <a:rPr sz="5000" spc="375" dirty="0">
                <a:latin typeface="Cambria"/>
                <a:cs typeface="Cambria"/>
              </a:rPr>
              <a:t>more</a:t>
            </a:r>
            <a:r>
              <a:rPr sz="5000" dirty="0">
                <a:latin typeface="Cambria"/>
                <a:cs typeface="Cambria"/>
              </a:rPr>
              <a:t> </a:t>
            </a:r>
            <a:r>
              <a:rPr sz="5000" spc="390" dirty="0">
                <a:latin typeface="Cambria"/>
                <a:cs typeface="Cambria"/>
              </a:rPr>
              <a:t>informed</a:t>
            </a:r>
            <a:r>
              <a:rPr sz="5000" spc="-5" dirty="0">
                <a:latin typeface="Cambria"/>
                <a:cs typeface="Cambria"/>
              </a:rPr>
              <a:t> </a:t>
            </a:r>
            <a:r>
              <a:rPr sz="5000" spc="275" dirty="0">
                <a:latin typeface="Cambria"/>
                <a:cs typeface="Cambria"/>
              </a:rPr>
              <a:t>decisions </a:t>
            </a:r>
            <a:r>
              <a:rPr sz="5000" spc="330" dirty="0">
                <a:latin typeface="Cambria"/>
                <a:cs typeface="Cambria"/>
              </a:rPr>
              <a:t>about</a:t>
            </a:r>
            <a:r>
              <a:rPr sz="5000" spc="5" dirty="0">
                <a:latin typeface="Cambria"/>
                <a:cs typeface="Cambria"/>
              </a:rPr>
              <a:t> </a:t>
            </a:r>
            <a:r>
              <a:rPr sz="5000" spc="340" dirty="0">
                <a:latin typeface="Cambria"/>
                <a:cs typeface="Cambria"/>
              </a:rPr>
              <a:t>their</a:t>
            </a:r>
            <a:r>
              <a:rPr sz="5000" spc="5" dirty="0">
                <a:latin typeface="Cambria"/>
                <a:cs typeface="Cambria"/>
              </a:rPr>
              <a:t> </a:t>
            </a:r>
            <a:r>
              <a:rPr sz="5000" spc="305" dirty="0">
                <a:latin typeface="Cambria"/>
                <a:cs typeface="Cambria"/>
              </a:rPr>
              <a:t>employees</a:t>
            </a:r>
            <a:r>
              <a:rPr sz="5000" spc="5" dirty="0">
                <a:latin typeface="Cambria"/>
                <a:cs typeface="Cambria"/>
              </a:rPr>
              <a:t> </a:t>
            </a:r>
            <a:r>
              <a:rPr sz="5000" spc="370" dirty="0">
                <a:latin typeface="Cambria"/>
                <a:cs typeface="Cambria"/>
              </a:rPr>
              <a:t>and</a:t>
            </a:r>
            <a:r>
              <a:rPr sz="5000" spc="10" dirty="0">
                <a:latin typeface="Cambria"/>
                <a:cs typeface="Cambria"/>
              </a:rPr>
              <a:t> </a:t>
            </a:r>
            <a:r>
              <a:rPr sz="5000" spc="375" dirty="0">
                <a:latin typeface="Cambria"/>
                <a:cs typeface="Cambria"/>
              </a:rPr>
              <a:t>improve</a:t>
            </a:r>
            <a:r>
              <a:rPr sz="5000" spc="5" dirty="0">
                <a:latin typeface="Cambria"/>
                <a:cs typeface="Cambria"/>
              </a:rPr>
              <a:t> </a:t>
            </a:r>
            <a:r>
              <a:rPr sz="5000" spc="310" dirty="0">
                <a:latin typeface="Cambria"/>
                <a:cs typeface="Cambria"/>
              </a:rPr>
              <a:t>overall </a:t>
            </a:r>
            <a:r>
              <a:rPr sz="5000" spc="375" dirty="0">
                <a:latin typeface="Cambria"/>
                <a:cs typeface="Cambria"/>
              </a:rPr>
              <a:t>performance.</a:t>
            </a:r>
            <a:endParaRPr sz="50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151448" y="586104"/>
            <a:ext cx="6602730" cy="1442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300" spc="-175" dirty="0">
                <a:latin typeface="Trebuchet MS"/>
                <a:cs typeface="Trebuchet MS"/>
              </a:rPr>
              <a:t>Introduction</a:t>
            </a:r>
            <a:endParaRPr sz="93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5270" y="3213885"/>
            <a:ext cx="157432" cy="15743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5270" y="5543888"/>
            <a:ext cx="157432" cy="15743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10084" y="2763984"/>
            <a:ext cx="13071475" cy="62388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95"/>
              </a:spcBef>
            </a:pP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HR</a:t>
            </a:r>
            <a:r>
              <a:rPr sz="4250" spc="2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analytics</a:t>
            </a:r>
            <a:r>
              <a:rPr sz="4250" spc="2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involves</a:t>
            </a:r>
            <a:r>
              <a:rPr sz="4250" spc="2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the</a:t>
            </a:r>
            <a:r>
              <a:rPr sz="4250" spc="2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collection</a:t>
            </a:r>
            <a:r>
              <a:rPr sz="4250" spc="2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and</a:t>
            </a:r>
            <a:r>
              <a:rPr sz="4250" spc="2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analysis</a:t>
            </a:r>
            <a:r>
              <a:rPr sz="4250" spc="26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spc="-25" dirty="0">
                <a:solidFill>
                  <a:srgbClr val="FFFFFF"/>
                </a:solidFill>
                <a:latin typeface="Georgia"/>
                <a:cs typeface="Georgia"/>
              </a:rPr>
              <a:t>of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HR-related</a:t>
            </a:r>
            <a:r>
              <a:rPr sz="4250" spc="3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data,</a:t>
            </a:r>
            <a:r>
              <a:rPr sz="4250" spc="3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including</a:t>
            </a:r>
            <a:r>
              <a:rPr sz="4250" spc="3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employee</a:t>
            </a:r>
            <a:r>
              <a:rPr sz="4250" spc="32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spc="-10" dirty="0">
                <a:solidFill>
                  <a:srgbClr val="FFFFFF"/>
                </a:solidFill>
                <a:latin typeface="Georgia"/>
                <a:cs typeface="Georgia"/>
              </a:rPr>
              <a:t>data,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performance</a:t>
            </a:r>
            <a:r>
              <a:rPr sz="4250" spc="2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metrics,</a:t>
            </a:r>
            <a:r>
              <a:rPr sz="4250" spc="27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and</a:t>
            </a:r>
            <a:r>
              <a:rPr sz="4250" spc="2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other</a:t>
            </a:r>
            <a:r>
              <a:rPr sz="4250" spc="27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relevant</a:t>
            </a:r>
            <a:r>
              <a:rPr sz="4250" spc="27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data</a:t>
            </a:r>
            <a:r>
              <a:rPr sz="4250" spc="27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spc="-10" dirty="0">
                <a:solidFill>
                  <a:srgbClr val="FFFFFF"/>
                </a:solidFill>
                <a:latin typeface="Georgia"/>
                <a:cs typeface="Georgia"/>
              </a:rPr>
              <a:t>points.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By</a:t>
            </a:r>
            <a:r>
              <a:rPr sz="4250" spc="24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using</a:t>
            </a:r>
            <a:r>
              <a:rPr sz="4250" spc="2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advanced</a:t>
            </a:r>
            <a:r>
              <a:rPr sz="4250" spc="2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analytical</a:t>
            </a:r>
            <a:r>
              <a:rPr sz="4250" spc="2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tools</a:t>
            </a:r>
            <a:r>
              <a:rPr sz="4250" spc="2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and</a:t>
            </a:r>
            <a:r>
              <a:rPr sz="4250" spc="25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spc="-10" dirty="0">
                <a:solidFill>
                  <a:srgbClr val="FFFFFF"/>
                </a:solidFill>
                <a:latin typeface="Georgia"/>
                <a:cs typeface="Georgia"/>
              </a:rPr>
              <a:t>techniques,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HR</a:t>
            </a:r>
            <a:r>
              <a:rPr sz="4250" spc="2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analytics</a:t>
            </a:r>
            <a:r>
              <a:rPr sz="4250" spc="2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provides</a:t>
            </a:r>
            <a:r>
              <a:rPr sz="4250" spc="2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valuable</a:t>
            </a:r>
            <a:r>
              <a:rPr sz="4250" spc="2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insights</a:t>
            </a:r>
            <a:r>
              <a:rPr sz="4250" spc="28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into</a:t>
            </a:r>
            <a:r>
              <a:rPr sz="4250" spc="2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spc="-25" dirty="0">
                <a:solidFill>
                  <a:srgbClr val="FFFFFF"/>
                </a:solidFill>
                <a:latin typeface="Georgia"/>
                <a:cs typeface="Georgia"/>
              </a:rPr>
              <a:t>HR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processes</a:t>
            </a:r>
            <a:r>
              <a:rPr sz="4250" spc="30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and</a:t>
            </a:r>
            <a:r>
              <a:rPr sz="4250" spc="3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trends,</a:t>
            </a:r>
            <a:r>
              <a:rPr sz="4250" spc="30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enabling</a:t>
            </a:r>
            <a:r>
              <a:rPr sz="4250" spc="30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organizations</a:t>
            </a:r>
            <a:r>
              <a:rPr sz="4250" spc="3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to</a:t>
            </a:r>
            <a:r>
              <a:rPr sz="4250" spc="30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spc="-20" dirty="0">
                <a:solidFill>
                  <a:srgbClr val="FFFFFF"/>
                </a:solidFill>
                <a:latin typeface="Georgia"/>
                <a:cs typeface="Georgia"/>
              </a:rPr>
              <a:t>make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more</a:t>
            </a:r>
            <a:r>
              <a:rPr sz="4250" spc="2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informed</a:t>
            </a:r>
            <a:r>
              <a:rPr sz="4250" spc="2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decisions</a:t>
            </a:r>
            <a:r>
              <a:rPr sz="4250" spc="2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about</a:t>
            </a:r>
            <a:r>
              <a:rPr sz="4250" spc="2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their</a:t>
            </a:r>
            <a:r>
              <a:rPr sz="4250" spc="2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employees</a:t>
            </a:r>
            <a:r>
              <a:rPr sz="4250" spc="2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spc="-25" dirty="0">
                <a:solidFill>
                  <a:srgbClr val="FFFFFF"/>
                </a:solidFill>
                <a:latin typeface="Georgia"/>
                <a:cs typeface="Georgia"/>
              </a:rPr>
              <a:t>and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improve</a:t>
            </a:r>
            <a:r>
              <a:rPr sz="4250" spc="29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dirty="0">
                <a:solidFill>
                  <a:srgbClr val="FFFFFF"/>
                </a:solidFill>
                <a:latin typeface="Georgia"/>
                <a:cs typeface="Georgia"/>
              </a:rPr>
              <a:t>overall</a:t>
            </a:r>
            <a:r>
              <a:rPr sz="4250" spc="30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4250" spc="-10" dirty="0">
                <a:solidFill>
                  <a:srgbClr val="FFFFFF"/>
                </a:solidFill>
                <a:latin typeface="Georgia"/>
                <a:cs typeface="Georgia"/>
              </a:rPr>
              <a:t>performance.</a:t>
            </a:r>
            <a:endParaRPr sz="4250" dirty="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0724" y="-54800"/>
            <a:ext cx="13035532" cy="1648079"/>
          </a:xfrm>
          <a:prstGeom prst="rect">
            <a:avLst/>
          </a:prstGeom>
        </p:spPr>
        <p:txBody>
          <a:bodyPr vert="horz" wrap="square" lIns="0" tIns="397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100" spc="-229">
                <a:latin typeface="Trebuchet MS"/>
                <a:cs typeface="Trebuchet MS"/>
              </a:rPr>
              <a:t>Problem</a:t>
            </a:r>
            <a:r>
              <a:rPr sz="8100" spc="-380">
                <a:latin typeface="Trebuchet MS"/>
                <a:cs typeface="Trebuchet MS"/>
              </a:rPr>
              <a:t> </a:t>
            </a:r>
            <a:r>
              <a:rPr sz="8100" spc="-100">
                <a:latin typeface="Trebuchet MS"/>
                <a:cs typeface="Trebuchet MS"/>
              </a:rPr>
              <a:t>Statement</a:t>
            </a:r>
            <a:r>
              <a:rPr lang="en-US" sz="8100" spc="-100">
                <a:latin typeface="Trebuchet MS"/>
                <a:cs typeface="Trebuchet MS"/>
              </a:rPr>
              <a:t>- KPI’s</a:t>
            </a:r>
            <a:endParaRPr sz="81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159" y="2892269"/>
            <a:ext cx="238125" cy="2381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159" y="3720944"/>
            <a:ext cx="238125" cy="2381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159" y="5378294"/>
            <a:ext cx="238125" cy="2381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159" y="6206969"/>
            <a:ext cx="238125" cy="2381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159" y="7035644"/>
            <a:ext cx="238125" cy="2381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159" y="7864319"/>
            <a:ext cx="238125" cy="23812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09835" rIns="0" bIns="0" rtlCol="0">
            <a:spAutoFit/>
          </a:bodyPr>
          <a:lstStyle/>
          <a:p>
            <a:pPr marL="12700" marR="778510">
              <a:lnSpc>
                <a:spcPts val="6530"/>
              </a:lnSpc>
              <a:spcBef>
                <a:spcPts val="575"/>
              </a:spcBef>
            </a:pPr>
            <a:r>
              <a:rPr sz="5700" spc="160" dirty="0">
                <a:latin typeface="Cambria"/>
                <a:cs typeface="Cambria"/>
              </a:rPr>
              <a:t>Average</a:t>
            </a:r>
            <a:r>
              <a:rPr sz="5700" spc="40" dirty="0">
                <a:latin typeface="Cambria"/>
                <a:cs typeface="Cambria"/>
              </a:rPr>
              <a:t> </a:t>
            </a:r>
            <a:r>
              <a:rPr sz="5700" spc="204" dirty="0">
                <a:latin typeface="Cambria"/>
                <a:cs typeface="Cambria"/>
              </a:rPr>
              <a:t>attrition</a:t>
            </a:r>
            <a:r>
              <a:rPr sz="5700" spc="40" dirty="0">
                <a:latin typeface="Cambria"/>
                <a:cs typeface="Cambria"/>
              </a:rPr>
              <a:t> </a:t>
            </a:r>
            <a:r>
              <a:rPr sz="5700" spc="210" dirty="0">
                <a:latin typeface="Cambria"/>
                <a:cs typeface="Cambria"/>
              </a:rPr>
              <a:t>rate</a:t>
            </a:r>
            <a:r>
              <a:rPr sz="5700" spc="40" dirty="0">
                <a:latin typeface="Cambria"/>
                <a:cs typeface="Cambria"/>
              </a:rPr>
              <a:t> </a:t>
            </a:r>
            <a:r>
              <a:rPr sz="5700" spc="190" dirty="0">
                <a:latin typeface="Cambria"/>
                <a:cs typeface="Cambria"/>
              </a:rPr>
              <a:t>for</a:t>
            </a:r>
            <a:r>
              <a:rPr sz="5700" spc="40" dirty="0">
                <a:latin typeface="Cambria"/>
                <a:cs typeface="Cambria"/>
              </a:rPr>
              <a:t> </a:t>
            </a:r>
            <a:r>
              <a:rPr sz="5700" spc="160" dirty="0">
                <a:latin typeface="Cambria"/>
                <a:cs typeface="Cambria"/>
              </a:rPr>
              <a:t>all</a:t>
            </a:r>
            <a:r>
              <a:rPr sz="5700" spc="40" dirty="0">
                <a:latin typeface="Cambria"/>
                <a:cs typeface="Cambria"/>
              </a:rPr>
              <a:t> </a:t>
            </a:r>
            <a:r>
              <a:rPr sz="5700" spc="204" dirty="0">
                <a:latin typeface="Cambria"/>
                <a:cs typeface="Cambria"/>
              </a:rPr>
              <a:t>Departments </a:t>
            </a:r>
            <a:r>
              <a:rPr sz="5700" spc="160" dirty="0">
                <a:latin typeface="Cambria"/>
                <a:cs typeface="Cambria"/>
              </a:rPr>
              <a:t>Average</a:t>
            </a:r>
            <a:r>
              <a:rPr sz="5700" spc="40" dirty="0">
                <a:latin typeface="Cambria"/>
                <a:cs typeface="Cambria"/>
              </a:rPr>
              <a:t> </a:t>
            </a:r>
            <a:r>
              <a:rPr sz="5700" spc="170" dirty="0">
                <a:latin typeface="Cambria"/>
                <a:cs typeface="Cambria"/>
              </a:rPr>
              <a:t>hourly</a:t>
            </a:r>
            <a:r>
              <a:rPr sz="5700" spc="45" dirty="0">
                <a:latin typeface="Cambria"/>
                <a:cs typeface="Cambria"/>
              </a:rPr>
              <a:t> </a:t>
            </a:r>
            <a:r>
              <a:rPr sz="5700" spc="210" dirty="0">
                <a:latin typeface="Cambria"/>
                <a:cs typeface="Cambria"/>
              </a:rPr>
              <a:t>rate</a:t>
            </a:r>
            <a:r>
              <a:rPr sz="5700" spc="45" dirty="0">
                <a:latin typeface="Cambria"/>
                <a:cs typeface="Cambria"/>
              </a:rPr>
              <a:t> </a:t>
            </a:r>
            <a:r>
              <a:rPr sz="5700" spc="225" dirty="0">
                <a:latin typeface="Cambria"/>
                <a:cs typeface="Cambria"/>
              </a:rPr>
              <a:t>of</a:t>
            </a:r>
            <a:r>
              <a:rPr sz="5700" spc="45" dirty="0">
                <a:latin typeface="Cambria"/>
                <a:cs typeface="Cambria"/>
              </a:rPr>
              <a:t> </a:t>
            </a:r>
            <a:r>
              <a:rPr sz="5700" spc="195" dirty="0">
                <a:latin typeface="Cambria"/>
                <a:cs typeface="Cambria"/>
              </a:rPr>
              <a:t>Male</a:t>
            </a:r>
            <a:r>
              <a:rPr sz="5700" spc="45" dirty="0">
                <a:latin typeface="Cambria"/>
                <a:cs typeface="Cambria"/>
              </a:rPr>
              <a:t> </a:t>
            </a:r>
            <a:r>
              <a:rPr sz="5700" spc="190" dirty="0">
                <a:latin typeface="Cambria"/>
                <a:cs typeface="Cambria"/>
              </a:rPr>
              <a:t>Research </a:t>
            </a:r>
            <a:r>
              <a:rPr sz="5700" spc="220" dirty="0">
                <a:latin typeface="Cambria"/>
                <a:cs typeface="Cambria"/>
              </a:rPr>
              <a:t>Scientist</a:t>
            </a:r>
            <a:endParaRPr sz="5700">
              <a:latin typeface="Cambria"/>
              <a:cs typeface="Cambria"/>
            </a:endParaRPr>
          </a:p>
          <a:p>
            <a:pPr marL="12700">
              <a:lnSpc>
                <a:spcPts val="6190"/>
              </a:lnSpc>
            </a:pPr>
            <a:r>
              <a:rPr sz="5700" spc="175" dirty="0">
                <a:latin typeface="Cambria"/>
                <a:cs typeface="Cambria"/>
              </a:rPr>
              <a:t>Attrition</a:t>
            </a:r>
            <a:r>
              <a:rPr sz="5700" spc="45" dirty="0">
                <a:latin typeface="Cambria"/>
                <a:cs typeface="Cambria"/>
              </a:rPr>
              <a:t> </a:t>
            </a:r>
            <a:r>
              <a:rPr sz="5700" spc="210" dirty="0">
                <a:latin typeface="Cambria"/>
                <a:cs typeface="Cambria"/>
              </a:rPr>
              <a:t>rate</a:t>
            </a:r>
            <a:r>
              <a:rPr sz="5700" spc="45" dirty="0">
                <a:latin typeface="Cambria"/>
                <a:cs typeface="Cambria"/>
              </a:rPr>
              <a:t> </a:t>
            </a:r>
            <a:r>
              <a:rPr sz="5700" spc="150" dirty="0">
                <a:latin typeface="Cambria"/>
                <a:cs typeface="Cambria"/>
              </a:rPr>
              <a:t>Vs</a:t>
            </a:r>
            <a:r>
              <a:rPr sz="5700" spc="45" dirty="0">
                <a:latin typeface="Cambria"/>
                <a:cs typeface="Cambria"/>
              </a:rPr>
              <a:t> </a:t>
            </a:r>
            <a:r>
              <a:rPr sz="5700" spc="210" dirty="0">
                <a:latin typeface="Cambria"/>
                <a:cs typeface="Cambria"/>
              </a:rPr>
              <a:t>Monthly</a:t>
            </a:r>
            <a:r>
              <a:rPr sz="5700" spc="45" dirty="0">
                <a:latin typeface="Cambria"/>
                <a:cs typeface="Cambria"/>
              </a:rPr>
              <a:t> </a:t>
            </a:r>
            <a:r>
              <a:rPr sz="5700" spc="245" dirty="0">
                <a:latin typeface="Cambria"/>
                <a:cs typeface="Cambria"/>
              </a:rPr>
              <a:t>Income</a:t>
            </a:r>
            <a:r>
              <a:rPr sz="5700" spc="45" dirty="0">
                <a:latin typeface="Cambria"/>
                <a:cs typeface="Cambria"/>
              </a:rPr>
              <a:t> </a:t>
            </a:r>
            <a:r>
              <a:rPr sz="5700" spc="235" dirty="0">
                <a:latin typeface="Cambria"/>
                <a:cs typeface="Cambria"/>
              </a:rPr>
              <a:t>stats</a:t>
            </a:r>
            <a:endParaRPr sz="5700">
              <a:latin typeface="Cambria"/>
              <a:cs typeface="Cambria"/>
            </a:endParaRPr>
          </a:p>
          <a:p>
            <a:pPr marL="12700" marR="5080">
              <a:lnSpc>
                <a:spcPts val="6530"/>
              </a:lnSpc>
              <a:spcBef>
                <a:spcPts val="320"/>
              </a:spcBef>
            </a:pPr>
            <a:r>
              <a:rPr sz="5700" spc="160" dirty="0">
                <a:latin typeface="Cambria"/>
                <a:cs typeface="Cambria"/>
              </a:rPr>
              <a:t>Average</a:t>
            </a:r>
            <a:r>
              <a:rPr sz="5700" spc="40" dirty="0">
                <a:latin typeface="Cambria"/>
                <a:cs typeface="Cambria"/>
              </a:rPr>
              <a:t> </a:t>
            </a:r>
            <a:r>
              <a:rPr sz="5700" spc="160" dirty="0">
                <a:latin typeface="Cambria"/>
                <a:cs typeface="Cambria"/>
              </a:rPr>
              <a:t>working</a:t>
            </a:r>
            <a:r>
              <a:rPr sz="5700" spc="45" dirty="0">
                <a:latin typeface="Cambria"/>
                <a:cs typeface="Cambria"/>
              </a:rPr>
              <a:t> </a:t>
            </a:r>
            <a:r>
              <a:rPr sz="5700" spc="185" dirty="0">
                <a:latin typeface="Cambria"/>
                <a:cs typeface="Cambria"/>
              </a:rPr>
              <a:t>years</a:t>
            </a:r>
            <a:r>
              <a:rPr sz="5700" spc="40" dirty="0">
                <a:latin typeface="Cambria"/>
                <a:cs typeface="Cambria"/>
              </a:rPr>
              <a:t> </a:t>
            </a:r>
            <a:r>
              <a:rPr sz="5700" spc="190" dirty="0">
                <a:latin typeface="Cambria"/>
                <a:cs typeface="Cambria"/>
              </a:rPr>
              <a:t>for</a:t>
            </a:r>
            <a:r>
              <a:rPr sz="5700" spc="45" dirty="0">
                <a:latin typeface="Cambria"/>
                <a:cs typeface="Cambria"/>
              </a:rPr>
              <a:t> </a:t>
            </a:r>
            <a:r>
              <a:rPr sz="5700" spc="270" dirty="0">
                <a:latin typeface="Cambria"/>
                <a:cs typeface="Cambria"/>
              </a:rPr>
              <a:t>each</a:t>
            </a:r>
            <a:r>
              <a:rPr sz="5700" spc="40" dirty="0">
                <a:latin typeface="Cambria"/>
                <a:cs typeface="Cambria"/>
              </a:rPr>
              <a:t> </a:t>
            </a:r>
            <a:r>
              <a:rPr sz="5700" spc="204" dirty="0">
                <a:latin typeface="Cambria"/>
                <a:cs typeface="Cambria"/>
              </a:rPr>
              <a:t>Department </a:t>
            </a:r>
            <a:r>
              <a:rPr sz="5700" spc="380" dirty="0">
                <a:latin typeface="Cambria"/>
                <a:cs typeface="Cambria"/>
              </a:rPr>
              <a:t>Job</a:t>
            </a:r>
            <a:r>
              <a:rPr sz="5700" spc="40" dirty="0">
                <a:latin typeface="Cambria"/>
                <a:cs typeface="Cambria"/>
              </a:rPr>
              <a:t> </a:t>
            </a:r>
            <a:r>
              <a:rPr sz="5700" spc="135" dirty="0">
                <a:latin typeface="Cambria"/>
                <a:cs typeface="Cambria"/>
              </a:rPr>
              <a:t>role</a:t>
            </a:r>
            <a:r>
              <a:rPr sz="5700" spc="45" dirty="0">
                <a:latin typeface="Cambria"/>
                <a:cs typeface="Cambria"/>
              </a:rPr>
              <a:t> </a:t>
            </a:r>
            <a:r>
              <a:rPr sz="5700" spc="150" dirty="0">
                <a:latin typeface="Cambria"/>
                <a:cs typeface="Cambria"/>
              </a:rPr>
              <a:t>Vs</a:t>
            </a:r>
            <a:r>
              <a:rPr sz="5700" spc="40" dirty="0">
                <a:latin typeface="Cambria"/>
                <a:cs typeface="Cambria"/>
              </a:rPr>
              <a:t> </a:t>
            </a:r>
            <a:r>
              <a:rPr sz="5700" spc="114" dirty="0">
                <a:latin typeface="Cambria"/>
                <a:cs typeface="Cambria"/>
              </a:rPr>
              <a:t>Work</a:t>
            </a:r>
            <a:r>
              <a:rPr sz="5700" spc="45" dirty="0">
                <a:latin typeface="Cambria"/>
                <a:cs typeface="Cambria"/>
              </a:rPr>
              <a:t> </a:t>
            </a:r>
            <a:r>
              <a:rPr sz="5700" spc="175" dirty="0">
                <a:latin typeface="Cambria"/>
                <a:cs typeface="Cambria"/>
              </a:rPr>
              <a:t>life</a:t>
            </a:r>
            <a:r>
              <a:rPr sz="5700" spc="45" dirty="0">
                <a:latin typeface="Cambria"/>
                <a:cs typeface="Cambria"/>
              </a:rPr>
              <a:t> </a:t>
            </a:r>
            <a:r>
              <a:rPr sz="5700" spc="215" dirty="0">
                <a:latin typeface="Cambria"/>
                <a:cs typeface="Cambria"/>
              </a:rPr>
              <a:t>balance</a:t>
            </a:r>
            <a:endParaRPr sz="5700">
              <a:latin typeface="Cambria"/>
              <a:cs typeface="Cambria"/>
            </a:endParaRPr>
          </a:p>
          <a:p>
            <a:pPr marL="12700">
              <a:lnSpc>
                <a:spcPts val="6355"/>
              </a:lnSpc>
            </a:pPr>
            <a:r>
              <a:rPr sz="5700" spc="175" dirty="0">
                <a:latin typeface="Cambria"/>
                <a:cs typeface="Cambria"/>
              </a:rPr>
              <a:t>Attrition</a:t>
            </a:r>
            <a:r>
              <a:rPr sz="5700" spc="40" dirty="0">
                <a:latin typeface="Cambria"/>
                <a:cs typeface="Cambria"/>
              </a:rPr>
              <a:t> </a:t>
            </a:r>
            <a:r>
              <a:rPr sz="5700" spc="210" dirty="0">
                <a:latin typeface="Cambria"/>
                <a:cs typeface="Cambria"/>
              </a:rPr>
              <a:t>rate</a:t>
            </a:r>
            <a:r>
              <a:rPr sz="5700" spc="45" dirty="0">
                <a:latin typeface="Cambria"/>
                <a:cs typeface="Cambria"/>
              </a:rPr>
              <a:t> </a:t>
            </a:r>
            <a:r>
              <a:rPr sz="5700" spc="150" dirty="0">
                <a:latin typeface="Cambria"/>
                <a:cs typeface="Cambria"/>
              </a:rPr>
              <a:t>Vs</a:t>
            </a:r>
            <a:r>
              <a:rPr sz="5700" spc="40" dirty="0">
                <a:latin typeface="Cambria"/>
                <a:cs typeface="Cambria"/>
              </a:rPr>
              <a:t> </a:t>
            </a:r>
            <a:r>
              <a:rPr sz="5700" spc="180" dirty="0">
                <a:latin typeface="Cambria"/>
                <a:cs typeface="Cambria"/>
              </a:rPr>
              <a:t>Years</a:t>
            </a:r>
            <a:r>
              <a:rPr sz="5700" spc="45" dirty="0">
                <a:latin typeface="Cambria"/>
                <a:cs typeface="Cambria"/>
              </a:rPr>
              <a:t> </a:t>
            </a:r>
            <a:r>
              <a:rPr sz="5700" spc="240" dirty="0">
                <a:latin typeface="Cambria"/>
                <a:cs typeface="Cambria"/>
              </a:rPr>
              <a:t>Since</a:t>
            </a:r>
            <a:r>
              <a:rPr sz="5700" spc="45" dirty="0">
                <a:latin typeface="Cambria"/>
                <a:cs typeface="Cambria"/>
              </a:rPr>
              <a:t> </a:t>
            </a:r>
            <a:r>
              <a:rPr sz="5700" spc="220" dirty="0">
                <a:latin typeface="Cambria"/>
                <a:cs typeface="Cambria"/>
              </a:rPr>
              <a:t>last</a:t>
            </a:r>
            <a:r>
              <a:rPr sz="5700" spc="40" dirty="0">
                <a:latin typeface="Cambria"/>
                <a:cs typeface="Cambria"/>
              </a:rPr>
              <a:t> </a:t>
            </a:r>
            <a:r>
              <a:rPr sz="5700" spc="190" dirty="0">
                <a:latin typeface="Cambria"/>
                <a:cs typeface="Cambria"/>
              </a:rPr>
              <a:t>promotion</a:t>
            </a:r>
            <a:endParaRPr sz="5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8844" rIns="0" bIns="0" rtlCol="0">
            <a:spAutoFit/>
          </a:bodyPr>
          <a:lstStyle/>
          <a:p>
            <a:pPr marL="293370">
              <a:lnSpc>
                <a:spcPct val="100000"/>
              </a:lnSpc>
              <a:spcBef>
                <a:spcPts val="100"/>
              </a:spcBef>
            </a:pPr>
            <a:r>
              <a:rPr sz="7900" dirty="0">
                <a:latin typeface="Trebuchet MS"/>
                <a:cs typeface="Trebuchet MS"/>
              </a:rPr>
              <a:t>Business</a:t>
            </a:r>
            <a:r>
              <a:rPr sz="7900" spc="-50" dirty="0">
                <a:latin typeface="Trebuchet MS"/>
                <a:cs typeface="Trebuchet MS"/>
              </a:rPr>
              <a:t> </a:t>
            </a:r>
            <a:r>
              <a:rPr sz="7900" spc="-145" dirty="0">
                <a:latin typeface="Trebuchet MS"/>
                <a:cs typeface="Trebuchet MS"/>
              </a:rPr>
              <a:t>Objective</a:t>
            </a:r>
            <a:endParaRPr sz="79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3024" y="5773035"/>
            <a:ext cx="152399" cy="1523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3024" y="6392160"/>
            <a:ext cx="152399" cy="1523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3024" y="7011285"/>
            <a:ext cx="152399" cy="1523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43024" y="8249535"/>
            <a:ext cx="152399" cy="15239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278130">
              <a:lnSpc>
                <a:spcPct val="100000"/>
              </a:lnSpc>
              <a:spcBef>
                <a:spcPts val="409"/>
              </a:spcBef>
            </a:pPr>
            <a:r>
              <a:rPr spc="180" dirty="0"/>
              <a:t>The</a:t>
            </a:r>
            <a:r>
              <a:rPr spc="-100" dirty="0"/>
              <a:t> </a:t>
            </a:r>
            <a:r>
              <a:rPr spc="130" dirty="0"/>
              <a:t>aim</a:t>
            </a:r>
            <a:r>
              <a:rPr spc="-95" dirty="0"/>
              <a:t> </a:t>
            </a:r>
            <a:r>
              <a:rPr spc="140" dirty="0"/>
              <a:t>of</a:t>
            </a:r>
            <a:r>
              <a:rPr spc="-95" dirty="0"/>
              <a:t> </a:t>
            </a:r>
            <a:r>
              <a:rPr spc="229" dirty="0"/>
              <a:t>this</a:t>
            </a:r>
            <a:r>
              <a:rPr spc="-95" dirty="0"/>
              <a:t> </a:t>
            </a:r>
            <a:r>
              <a:rPr spc="90" dirty="0"/>
              <a:t>project</a:t>
            </a:r>
            <a:r>
              <a:rPr spc="-100" dirty="0"/>
              <a:t> </a:t>
            </a:r>
            <a:r>
              <a:rPr spc="200" dirty="0"/>
              <a:t>is</a:t>
            </a:r>
            <a:r>
              <a:rPr spc="-95" dirty="0"/>
              <a:t> </a:t>
            </a:r>
            <a:r>
              <a:rPr spc="220" dirty="0"/>
              <a:t>to</a:t>
            </a:r>
            <a:r>
              <a:rPr spc="-95" dirty="0"/>
              <a:t> </a:t>
            </a:r>
            <a:r>
              <a:rPr spc="120" dirty="0"/>
              <a:t>analyze</a:t>
            </a:r>
            <a:r>
              <a:rPr spc="-95" dirty="0"/>
              <a:t> </a:t>
            </a:r>
            <a:r>
              <a:rPr spc="114" dirty="0"/>
              <a:t>employee</a:t>
            </a:r>
            <a:r>
              <a:rPr spc="-95" dirty="0"/>
              <a:t> </a:t>
            </a:r>
            <a:r>
              <a:rPr spc="160" dirty="0"/>
              <a:t>retention</a:t>
            </a:r>
          </a:p>
          <a:p>
            <a:pPr marL="278130" marR="161925">
              <a:lnSpc>
                <a:spcPct val="106900"/>
              </a:lnSpc>
            </a:pPr>
            <a:r>
              <a:rPr spc="165" dirty="0"/>
              <a:t>and</a:t>
            </a:r>
            <a:r>
              <a:rPr spc="-85" dirty="0"/>
              <a:t> </a:t>
            </a:r>
            <a:r>
              <a:rPr spc="175" dirty="0"/>
              <a:t>attrition</a:t>
            </a:r>
            <a:r>
              <a:rPr spc="-85" dirty="0"/>
              <a:t> </a:t>
            </a:r>
            <a:r>
              <a:rPr spc="200" dirty="0"/>
              <a:t>rates</a:t>
            </a:r>
            <a:r>
              <a:rPr spc="-85" dirty="0"/>
              <a:t> </a:t>
            </a:r>
            <a:r>
              <a:rPr spc="185" dirty="0"/>
              <a:t>with</a:t>
            </a:r>
            <a:r>
              <a:rPr spc="-85" dirty="0"/>
              <a:t> </a:t>
            </a:r>
            <a:r>
              <a:rPr spc="180" dirty="0"/>
              <a:t>the</a:t>
            </a:r>
            <a:r>
              <a:rPr spc="-85" dirty="0"/>
              <a:t> </a:t>
            </a:r>
            <a:r>
              <a:rPr spc="170" dirty="0"/>
              <a:t>organization</a:t>
            </a:r>
            <a:r>
              <a:rPr spc="-85" dirty="0"/>
              <a:t> </a:t>
            </a:r>
            <a:r>
              <a:rPr spc="165" dirty="0"/>
              <a:t>and</a:t>
            </a:r>
            <a:r>
              <a:rPr spc="-85" dirty="0"/>
              <a:t> </a:t>
            </a:r>
            <a:r>
              <a:rPr spc="155" dirty="0"/>
              <a:t>provide</a:t>
            </a:r>
            <a:r>
              <a:rPr spc="-85" dirty="0"/>
              <a:t> </a:t>
            </a:r>
            <a:r>
              <a:rPr spc="235" dirty="0"/>
              <a:t>insights </a:t>
            </a:r>
            <a:r>
              <a:rPr spc="220" dirty="0"/>
              <a:t>to</a:t>
            </a:r>
            <a:r>
              <a:rPr spc="-95" dirty="0"/>
              <a:t> </a:t>
            </a:r>
            <a:r>
              <a:rPr spc="180" dirty="0"/>
              <a:t>the</a:t>
            </a:r>
            <a:r>
              <a:rPr spc="-95" dirty="0"/>
              <a:t> </a:t>
            </a:r>
            <a:r>
              <a:rPr spc="415" dirty="0"/>
              <a:t>HR</a:t>
            </a:r>
            <a:r>
              <a:rPr spc="-95" dirty="0"/>
              <a:t> </a:t>
            </a:r>
            <a:r>
              <a:rPr spc="170" dirty="0"/>
              <a:t>team</a:t>
            </a:r>
            <a:r>
              <a:rPr spc="-95" dirty="0"/>
              <a:t> </a:t>
            </a:r>
            <a:r>
              <a:rPr spc="175" dirty="0"/>
              <a:t>for</a:t>
            </a:r>
            <a:r>
              <a:rPr spc="-95" dirty="0"/>
              <a:t> </a:t>
            </a:r>
            <a:r>
              <a:rPr spc="140" dirty="0"/>
              <a:t>developing</a:t>
            </a:r>
            <a:r>
              <a:rPr spc="-95" dirty="0"/>
              <a:t> </a:t>
            </a:r>
            <a:r>
              <a:rPr spc="114" dirty="0"/>
              <a:t>effective</a:t>
            </a:r>
            <a:r>
              <a:rPr spc="-90" dirty="0"/>
              <a:t> </a:t>
            </a:r>
            <a:r>
              <a:rPr spc="170" dirty="0"/>
              <a:t>retention</a:t>
            </a:r>
            <a:r>
              <a:rPr spc="-95" dirty="0"/>
              <a:t> </a:t>
            </a:r>
            <a:r>
              <a:rPr spc="170" dirty="0"/>
              <a:t>strategies. </a:t>
            </a:r>
            <a:r>
              <a:rPr spc="250" dirty="0"/>
              <a:t>Through</a:t>
            </a:r>
            <a:r>
              <a:rPr spc="-75" dirty="0"/>
              <a:t> </a:t>
            </a:r>
            <a:r>
              <a:rPr spc="150" dirty="0"/>
              <a:t>data</a:t>
            </a:r>
            <a:r>
              <a:rPr spc="-70" dirty="0"/>
              <a:t> </a:t>
            </a:r>
            <a:r>
              <a:rPr spc="180" dirty="0"/>
              <a:t>analysis</a:t>
            </a:r>
            <a:r>
              <a:rPr spc="-75" dirty="0"/>
              <a:t> </a:t>
            </a:r>
            <a:r>
              <a:rPr spc="165" dirty="0"/>
              <a:t>and</a:t>
            </a:r>
            <a:r>
              <a:rPr spc="-70" dirty="0"/>
              <a:t> </a:t>
            </a:r>
            <a:r>
              <a:rPr spc="140" dirty="0"/>
              <a:t>visualizations,</a:t>
            </a:r>
            <a:r>
              <a:rPr spc="-75" dirty="0"/>
              <a:t> </a:t>
            </a:r>
            <a:r>
              <a:rPr spc="120" dirty="0"/>
              <a:t>we</a:t>
            </a:r>
            <a:r>
              <a:rPr spc="-70" dirty="0"/>
              <a:t> </a:t>
            </a:r>
            <a:r>
              <a:rPr dirty="0"/>
              <a:t>will</a:t>
            </a:r>
            <a:r>
              <a:rPr spc="-70" dirty="0"/>
              <a:t> </a:t>
            </a:r>
            <a:r>
              <a:rPr spc="135" dirty="0"/>
              <a:t>identify </a:t>
            </a:r>
            <a:r>
              <a:rPr spc="200" dirty="0"/>
              <a:t>factors</a:t>
            </a:r>
            <a:r>
              <a:rPr spc="-100" dirty="0"/>
              <a:t> </a:t>
            </a:r>
            <a:r>
              <a:rPr spc="220" dirty="0"/>
              <a:t>that</a:t>
            </a:r>
            <a:r>
              <a:rPr spc="-95" dirty="0"/>
              <a:t> </a:t>
            </a:r>
            <a:r>
              <a:rPr spc="170" dirty="0"/>
              <a:t>contribute</a:t>
            </a:r>
            <a:r>
              <a:rPr spc="-95" dirty="0"/>
              <a:t> </a:t>
            </a:r>
            <a:r>
              <a:rPr spc="220" dirty="0"/>
              <a:t>to</a:t>
            </a:r>
            <a:r>
              <a:rPr spc="-100" dirty="0"/>
              <a:t> </a:t>
            </a:r>
            <a:r>
              <a:rPr spc="-60" dirty="0"/>
              <a:t>:</a:t>
            </a:r>
          </a:p>
          <a:p>
            <a:pPr marL="967105">
              <a:lnSpc>
                <a:spcPct val="100000"/>
              </a:lnSpc>
              <a:spcBef>
                <a:spcPts val="315"/>
              </a:spcBef>
            </a:pPr>
            <a:r>
              <a:rPr spc="165" dirty="0"/>
              <a:t>Employee</a:t>
            </a:r>
            <a:r>
              <a:rPr spc="-85" dirty="0"/>
              <a:t> </a:t>
            </a:r>
            <a:r>
              <a:rPr spc="215" dirty="0"/>
              <a:t>turnover</a:t>
            </a:r>
            <a:r>
              <a:rPr spc="-80" dirty="0"/>
              <a:t> </a:t>
            </a:r>
            <a:r>
              <a:rPr spc="165" dirty="0"/>
              <a:t>and</a:t>
            </a:r>
            <a:r>
              <a:rPr spc="-85" dirty="0"/>
              <a:t> </a:t>
            </a:r>
            <a:r>
              <a:rPr spc="140" dirty="0"/>
              <a:t>attrition.</a:t>
            </a:r>
          </a:p>
          <a:p>
            <a:pPr marL="967105" marR="5080">
              <a:lnSpc>
                <a:spcPct val="106900"/>
              </a:lnSpc>
              <a:spcBef>
                <a:spcPts val="5"/>
              </a:spcBef>
            </a:pPr>
            <a:r>
              <a:rPr spc="165" dirty="0"/>
              <a:t>Evaluate</a:t>
            </a:r>
            <a:r>
              <a:rPr spc="-90" dirty="0"/>
              <a:t> </a:t>
            </a:r>
            <a:r>
              <a:rPr spc="180" dirty="0"/>
              <a:t>the</a:t>
            </a:r>
            <a:r>
              <a:rPr spc="-85" dirty="0"/>
              <a:t> </a:t>
            </a:r>
            <a:r>
              <a:rPr spc="160" dirty="0"/>
              <a:t>effectiveness</a:t>
            </a:r>
            <a:r>
              <a:rPr spc="-90" dirty="0"/>
              <a:t> </a:t>
            </a:r>
            <a:r>
              <a:rPr spc="140" dirty="0"/>
              <a:t>of</a:t>
            </a:r>
            <a:r>
              <a:rPr spc="-85" dirty="0"/>
              <a:t> </a:t>
            </a:r>
            <a:r>
              <a:rPr spc="210" dirty="0"/>
              <a:t>existing</a:t>
            </a:r>
            <a:r>
              <a:rPr spc="-90" dirty="0"/>
              <a:t> </a:t>
            </a:r>
            <a:r>
              <a:rPr spc="170" dirty="0"/>
              <a:t>retention</a:t>
            </a:r>
            <a:r>
              <a:rPr spc="-85" dirty="0"/>
              <a:t> </a:t>
            </a:r>
            <a:r>
              <a:rPr spc="170" dirty="0"/>
              <a:t>strategies. </a:t>
            </a:r>
            <a:r>
              <a:rPr spc="220" dirty="0"/>
              <a:t>To</a:t>
            </a:r>
            <a:r>
              <a:rPr spc="-65" dirty="0"/>
              <a:t> </a:t>
            </a:r>
            <a:r>
              <a:rPr spc="170" dirty="0"/>
              <a:t>verify</a:t>
            </a:r>
            <a:r>
              <a:rPr spc="-65" dirty="0"/>
              <a:t> </a:t>
            </a:r>
            <a:r>
              <a:rPr spc="180" dirty="0"/>
              <a:t>the</a:t>
            </a:r>
            <a:r>
              <a:rPr spc="-65" dirty="0"/>
              <a:t> </a:t>
            </a:r>
            <a:r>
              <a:rPr spc="180" dirty="0"/>
              <a:t>satisfaction</a:t>
            </a:r>
            <a:r>
              <a:rPr spc="-60" dirty="0"/>
              <a:t> </a:t>
            </a:r>
            <a:r>
              <a:rPr dirty="0"/>
              <a:t>level</a:t>
            </a:r>
            <a:r>
              <a:rPr spc="-65" dirty="0"/>
              <a:t> </a:t>
            </a:r>
            <a:r>
              <a:rPr spc="140" dirty="0"/>
              <a:t>of</a:t>
            </a:r>
            <a:r>
              <a:rPr spc="-65" dirty="0"/>
              <a:t> </a:t>
            </a:r>
            <a:r>
              <a:rPr spc="114" dirty="0"/>
              <a:t>employee</a:t>
            </a:r>
            <a:r>
              <a:rPr spc="-65" dirty="0"/>
              <a:t> </a:t>
            </a:r>
            <a:r>
              <a:rPr spc="135" dirty="0"/>
              <a:t>in</a:t>
            </a:r>
            <a:r>
              <a:rPr spc="-60" dirty="0"/>
              <a:t> </a:t>
            </a:r>
            <a:r>
              <a:rPr spc="155" dirty="0"/>
              <a:t>the </a:t>
            </a:r>
            <a:r>
              <a:rPr spc="145" dirty="0"/>
              <a:t>organization.</a:t>
            </a:r>
          </a:p>
          <a:p>
            <a:pPr marL="967105">
              <a:lnSpc>
                <a:spcPct val="100000"/>
              </a:lnSpc>
              <a:spcBef>
                <a:spcPts val="315"/>
              </a:spcBef>
            </a:pPr>
            <a:r>
              <a:rPr spc="170" dirty="0"/>
              <a:t>Provide</a:t>
            </a:r>
            <a:r>
              <a:rPr spc="-90" dirty="0"/>
              <a:t> </a:t>
            </a:r>
            <a:r>
              <a:rPr spc="185" dirty="0"/>
              <a:t>recommendations</a:t>
            </a:r>
            <a:r>
              <a:rPr spc="-90" dirty="0"/>
              <a:t> </a:t>
            </a:r>
            <a:r>
              <a:rPr spc="220" dirty="0"/>
              <a:t>to</a:t>
            </a:r>
            <a:r>
              <a:rPr spc="-90" dirty="0"/>
              <a:t> </a:t>
            </a:r>
            <a:r>
              <a:rPr spc="175" dirty="0"/>
              <a:t>improve</a:t>
            </a:r>
            <a:r>
              <a:rPr spc="-90" dirty="0"/>
              <a:t> </a:t>
            </a:r>
            <a:r>
              <a:rPr spc="114" dirty="0"/>
              <a:t>employee</a:t>
            </a:r>
            <a:r>
              <a:rPr spc="-85" dirty="0"/>
              <a:t> </a:t>
            </a:r>
            <a:r>
              <a:rPr spc="135" dirty="0"/>
              <a:t>retention.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50869" y="391518"/>
            <a:ext cx="2080895" cy="8058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5100" spc="210" dirty="0"/>
              <a:t>KPI</a:t>
            </a:r>
            <a:r>
              <a:rPr sz="5100" spc="140" dirty="0"/>
              <a:t> </a:t>
            </a:r>
            <a:r>
              <a:rPr sz="5100" dirty="0"/>
              <a:t>-</a:t>
            </a:r>
            <a:r>
              <a:rPr sz="5100" spc="145" dirty="0"/>
              <a:t> </a:t>
            </a:r>
            <a:r>
              <a:rPr sz="5100" spc="-65" dirty="0"/>
              <a:t>1</a:t>
            </a:r>
            <a:endParaRPr sz="5100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5034" y="3719822"/>
            <a:ext cx="123825" cy="1238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5034" y="7053571"/>
            <a:ext cx="123825" cy="1238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76584" y="1197333"/>
            <a:ext cx="15115816" cy="879086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014345">
              <a:lnSpc>
                <a:spcPct val="100000"/>
              </a:lnSpc>
              <a:spcBef>
                <a:spcPts val="90"/>
              </a:spcBef>
            </a:pPr>
            <a:r>
              <a:rPr sz="4550" b="1" spc="254" dirty="0">
                <a:solidFill>
                  <a:srgbClr val="FFFFFF"/>
                </a:solidFill>
                <a:latin typeface="Cambria"/>
                <a:cs typeface="Cambria"/>
              </a:rPr>
              <a:t>Average</a:t>
            </a:r>
            <a:r>
              <a:rPr sz="4550" b="1" spc="1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550" b="1" spc="200" dirty="0">
                <a:solidFill>
                  <a:srgbClr val="FFFFFF"/>
                </a:solidFill>
                <a:latin typeface="Cambria"/>
                <a:cs typeface="Cambria"/>
              </a:rPr>
              <a:t>attrition</a:t>
            </a:r>
            <a:r>
              <a:rPr sz="4550" b="1" spc="1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550" b="1" spc="215" dirty="0">
                <a:solidFill>
                  <a:srgbClr val="FFFFFF"/>
                </a:solidFill>
                <a:latin typeface="Cambria"/>
                <a:cs typeface="Cambria"/>
              </a:rPr>
              <a:t>rate</a:t>
            </a:r>
            <a:r>
              <a:rPr sz="4550" b="1" spc="1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550" b="1" spc="265" dirty="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sz="4550" b="1" spc="1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550" b="1" spc="215" dirty="0">
                <a:solidFill>
                  <a:srgbClr val="FFFFFF"/>
                </a:solidFill>
                <a:latin typeface="Cambria"/>
                <a:cs typeface="Cambria"/>
              </a:rPr>
              <a:t>all</a:t>
            </a:r>
            <a:r>
              <a:rPr sz="4550" b="1" spc="1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550" b="1" spc="220" dirty="0">
                <a:solidFill>
                  <a:srgbClr val="FFFFFF"/>
                </a:solidFill>
                <a:latin typeface="Cambria"/>
                <a:cs typeface="Cambria"/>
              </a:rPr>
              <a:t>Department</a:t>
            </a:r>
            <a:endParaRPr sz="455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905"/>
              </a:spcBef>
            </a:pPr>
            <a:r>
              <a:rPr lang="en-US" sz="4000" spc="155" dirty="0">
                <a:solidFill>
                  <a:srgbClr val="FFFFFF"/>
                </a:solidFill>
                <a:latin typeface="Cambria"/>
                <a:cs typeface="Cambria"/>
              </a:rPr>
              <a:t>   </a:t>
            </a:r>
            <a:r>
              <a:rPr sz="4000" b="1" spc="155" dirty="0">
                <a:solidFill>
                  <a:srgbClr val="FFFFFF"/>
                </a:solidFill>
                <a:latin typeface="Cambria"/>
                <a:cs typeface="Cambria"/>
              </a:rPr>
              <a:t>Insights</a:t>
            </a:r>
            <a:r>
              <a:rPr sz="4000" b="1" spc="1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000" b="1" spc="265" dirty="0">
                <a:solidFill>
                  <a:srgbClr val="FFFFFF"/>
                </a:solidFill>
                <a:latin typeface="Cambria"/>
                <a:cs typeface="Cambria"/>
              </a:rPr>
              <a:t>from</a:t>
            </a:r>
            <a:r>
              <a:rPr sz="4000" b="1" spc="1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000" b="1" spc="185" dirty="0">
                <a:solidFill>
                  <a:srgbClr val="FFFFFF"/>
                </a:solidFill>
                <a:latin typeface="Cambria"/>
                <a:cs typeface="Cambria"/>
              </a:rPr>
              <a:t>KPI</a:t>
            </a:r>
            <a:r>
              <a:rPr sz="4000" b="1" spc="1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000" b="1" spc="30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endParaRPr sz="4000" b="1" dirty="0">
              <a:latin typeface="Cambria"/>
              <a:cs typeface="Cambria"/>
            </a:endParaRPr>
          </a:p>
          <a:p>
            <a:pPr marL="608965" marR="6317615" algn="just">
              <a:lnSpc>
                <a:spcPts val="3750"/>
              </a:lnSpc>
              <a:spcBef>
                <a:spcPts val="3850"/>
              </a:spcBef>
            </a:pPr>
            <a:r>
              <a:rPr sz="3300" spc="265" dirty="0">
                <a:solidFill>
                  <a:srgbClr val="FFFFFF"/>
                </a:solidFill>
                <a:latin typeface="Cambria"/>
                <a:cs typeface="Cambria"/>
              </a:rPr>
              <a:t>We</a:t>
            </a:r>
            <a:r>
              <a:rPr sz="3300" spc="509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220" dirty="0">
                <a:solidFill>
                  <a:srgbClr val="FFFFFF"/>
                </a:solidFill>
                <a:latin typeface="Cambria"/>
                <a:cs typeface="Cambria"/>
              </a:rPr>
              <a:t>can</a:t>
            </a:r>
            <a:r>
              <a:rPr sz="3300" spc="5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165" dirty="0">
                <a:solidFill>
                  <a:srgbClr val="FFFFFF"/>
                </a:solidFill>
                <a:latin typeface="Cambria"/>
                <a:cs typeface="Cambria"/>
              </a:rPr>
              <a:t>clearly</a:t>
            </a:r>
            <a:r>
              <a:rPr sz="3300" spc="5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165" dirty="0">
                <a:solidFill>
                  <a:srgbClr val="FFFFFF"/>
                </a:solidFill>
                <a:latin typeface="Cambria"/>
                <a:cs typeface="Cambria"/>
              </a:rPr>
              <a:t>say</a:t>
            </a:r>
            <a:r>
              <a:rPr sz="3300" spc="5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140" dirty="0">
                <a:solidFill>
                  <a:srgbClr val="FFFFFF"/>
                </a:solidFill>
                <a:latin typeface="Cambria"/>
                <a:cs typeface="Cambria"/>
              </a:rPr>
              <a:t>that</a:t>
            </a:r>
            <a:r>
              <a:rPr sz="3300" spc="5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135" dirty="0">
                <a:solidFill>
                  <a:srgbClr val="FFFFFF"/>
                </a:solidFill>
                <a:latin typeface="Cambria"/>
                <a:cs typeface="Cambria"/>
              </a:rPr>
              <a:t>attrition</a:t>
            </a:r>
            <a:r>
              <a:rPr sz="3300" spc="509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150" dirty="0">
                <a:solidFill>
                  <a:srgbClr val="FFFFFF"/>
                </a:solidFill>
                <a:latin typeface="Cambria"/>
                <a:cs typeface="Cambria"/>
              </a:rPr>
              <a:t>rate</a:t>
            </a:r>
            <a:r>
              <a:rPr sz="3300" spc="5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14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300" spc="160" dirty="0">
                <a:solidFill>
                  <a:srgbClr val="FFFFFF"/>
                </a:solidFill>
                <a:latin typeface="Cambria"/>
                <a:cs typeface="Cambria"/>
              </a:rPr>
              <a:t>employees</a:t>
            </a:r>
            <a:r>
              <a:rPr sz="3300" spc="340" dirty="0">
                <a:solidFill>
                  <a:srgbClr val="FFFFFF"/>
                </a:solidFill>
                <a:latin typeface="Cambria"/>
                <a:cs typeface="Cambria"/>
              </a:rPr>
              <a:t>   </a:t>
            </a:r>
            <a:r>
              <a:rPr sz="3300" spc="175" dirty="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sz="3300" spc="345" dirty="0">
                <a:solidFill>
                  <a:srgbClr val="FFFFFF"/>
                </a:solidFill>
                <a:latin typeface="Cambria"/>
                <a:cs typeface="Cambria"/>
              </a:rPr>
              <a:t>   </a:t>
            </a:r>
            <a:r>
              <a:rPr sz="3300" spc="175" dirty="0">
                <a:solidFill>
                  <a:srgbClr val="FFFFFF"/>
                </a:solidFill>
                <a:latin typeface="Cambria"/>
                <a:cs typeface="Cambria"/>
              </a:rPr>
              <a:t>every</a:t>
            </a:r>
            <a:r>
              <a:rPr sz="3300" spc="345" dirty="0">
                <a:solidFill>
                  <a:srgbClr val="FFFFFF"/>
                </a:solidFill>
                <a:latin typeface="Cambria"/>
                <a:cs typeface="Cambria"/>
              </a:rPr>
              <a:t>   </a:t>
            </a:r>
            <a:r>
              <a:rPr sz="3300" spc="175" dirty="0">
                <a:solidFill>
                  <a:srgbClr val="FFFFFF"/>
                </a:solidFill>
                <a:latin typeface="Cambria"/>
                <a:cs typeface="Cambria"/>
              </a:rPr>
              <a:t>department</a:t>
            </a:r>
            <a:r>
              <a:rPr sz="3300" spc="345" dirty="0">
                <a:solidFill>
                  <a:srgbClr val="FFFFFF"/>
                </a:solidFill>
                <a:latin typeface="Cambria"/>
                <a:cs typeface="Cambria"/>
              </a:rPr>
              <a:t>   </a:t>
            </a:r>
            <a:r>
              <a:rPr sz="3300" spc="75" dirty="0">
                <a:solidFill>
                  <a:srgbClr val="FFFFFF"/>
                </a:solidFill>
                <a:latin typeface="Cambria"/>
                <a:cs typeface="Cambria"/>
              </a:rPr>
              <a:t>is </a:t>
            </a:r>
            <a:r>
              <a:rPr sz="3300" spc="155" dirty="0">
                <a:solidFill>
                  <a:srgbClr val="FFFFFF"/>
                </a:solidFill>
                <a:latin typeface="Cambria"/>
                <a:cs typeface="Cambria"/>
              </a:rPr>
              <a:t>almost</a:t>
            </a:r>
            <a:r>
              <a:rPr sz="3300" spc="675" dirty="0">
                <a:solidFill>
                  <a:srgbClr val="FFFFFF"/>
                </a:solidFill>
                <a:latin typeface="Cambria"/>
                <a:cs typeface="Cambria"/>
              </a:rPr>
              <a:t>   </a:t>
            </a:r>
            <a:r>
              <a:rPr sz="3300" dirty="0">
                <a:solidFill>
                  <a:srgbClr val="FFFFFF"/>
                </a:solidFill>
                <a:latin typeface="Cambria"/>
                <a:cs typeface="Cambria"/>
              </a:rPr>
              <a:t>50%</a:t>
            </a:r>
            <a:r>
              <a:rPr sz="3300" spc="675" dirty="0">
                <a:solidFill>
                  <a:srgbClr val="FFFFFF"/>
                </a:solidFill>
                <a:latin typeface="Cambria"/>
                <a:cs typeface="Cambria"/>
              </a:rPr>
              <a:t>   </a:t>
            </a:r>
            <a:r>
              <a:rPr sz="3300" spc="215" dirty="0">
                <a:solidFill>
                  <a:srgbClr val="FFFFFF"/>
                </a:solidFill>
                <a:latin typeface="Cambria"/>
                <a:cs typeface="Cambria"/>
              </a:rPr>
              <a:t>which</a:t>
            </a:r>
            <a:r>
              <a:rPr sz="3300" spc="675" dirty="0">
                <a:solidFill>
                  <a:srgbClr val="FFFFFF"/>
                </a:solidFill>
                <a:latin typeface="Cambria"/>
                <a:cs typeface="Cambria"/>
              </a:rPr>
              <a:t>   </a:t>
            </a:r>
            <a:r>
              <a:rPr sz="3300" spc="150" dirty="0">
                <a:solidFill>
                  <a:srgbClr val="FFFFFF"/>
                </a:solidFill>
                <a:latin typeface="Cambria"/>
                <a:cs typeface="Cambria"/>
              </a:rPr>
              <a:t>indicates</a:t>
            </a:r>
            <a:r>
              <a:rPr sz="3300" spc="680" dirty="0">
                <a:solidFill>
                  <a:srgbClr val="FFFFFF"/>
                </a:solidFill>
                <a:latin typeface="Cambria"/>
                <a:cs typeface="Cambria"/>
              </a:rPr>
              <a:t>   </a:t>
            </a:r>
            <a:r>
              <a:rPr sz="3300" spc="120" dirty="0">
                <a:solidFill>
                  <a:srgbClr val="FFFFFF"/>
                </a:solidFill>
                <a:latin typeface="Cambria"/>
                <a:cs typeface="Cambria"/>
              </a:rPr>
              <a:t>that </a:t>
            </a:r>
            <a:r>
              <a:rPr sz="3300" spc="135" dirty="0">
                <a:solidFill>
                  <a:srgbClr val="FFFFFF"/>
                </a:solidFill>
                <a:latin typeface="Cambria"/>
                <a:cs typeface="Cambria"/>
              </a:rPr>
              <a:t>attrition</a:t>
            </a:r>
            <a:r>
              <a:rPr sz="3300" spc="530" dirty="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sz="3300" spc="150" dirty="0">
                <a:solidFill>
                  <a:srgbClr val="FFFFFF"/>
                </a:solidFill>
                <a:latin typeface="Cambria"/>
                <a:cs typeface="Cambria"/>
              </a:rPr>
              <a:t>rate</a:t>
            </a:r>
            <a:r>
              <a:rPr sz="3300" spc="535" dirty="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sz="3300" spc="170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3300" spc="535" dirty="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sz="3300" spc="160" dirty="0">
                <a:solidFill>
                  <a:srgbClr val="FFFFFF"/>
                </a:solidFill>
                <a:latin typeface="Cambria"/>
                <a:cs typeface="Cambria"/>
              </a:rPr>
              <a:t>employees</a:t>
            </a:r>
            <a:r>
              <a:rPr sz="3300" spc="530" dirty="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sz="3300" spc="130" dirty="0">
                <a:solidFill>
                  <a:srgbClr val="FFFFFF"/>
                </a:solidFill>
                <a:latin typeface="Cambria"/>
                <a:cs typeface="Cambria"/>
              </a:rPr>
              <a:t>does</a:t>
            </a:r>
            <a:r>
              <a:rPr sz="3300" spc="535" dirty="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sz="3300" spc="125" dirty="0">
                <a:solidFill>
                  <a:srgbClr val="FFFFFF"/>
                </a:solidFill>
                <a:latin typeface="Cambria"/>
                <a:cs typeface="Cambria"/>
              </a:rPr>
              <a:t>not </a:t>
            </a:r>
            <a:r>
              <a:rPr sz="3300" spc="165" dirty="0">
                <a:solidFill>
                  <a:srgbClr val="FFFFFF"/>
                </a:solidFill>
                <a:latin typeface="Cambria"/>
                <a:cs typeface="Cambria"/>
              </a:rPr>
              <a:t>depends</a:t>
            </a:r>
            <a:r>
              <a:rPr sz="3300" spc="3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204" dirty="0">
                <a:solidFill>
                  <a:srgbClr val="FFFFFF"/>
                </a:solidFill>
                <a:latin typeface="Cambria"/>
                <a:cs typeface="Cambria"/>
              </a:rPr>
              <a:t>on</a:t>
            </a:r>
            <a:r>
              <a:rPr sz="3300" spc="3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185" dirty="0">
                <a:solidFill>
                  <a:srgbClr val="FFFFFF"/>
                </a:solidFill>
                <a:latin typeface="Cambria"/>
                <a:cs typeface="Cambria"/>
              </a:rPr>
              <a:t>department.</a:t>
            </a:r>
            <a:r>
              <a:rPr sz="3300" spc="3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140" dirty="0">
                <a:solidFill>
                  <a:srgbClr val="FFFFFF"/>
                </a:solidFill>
                <a:latin typeface="Cambria"/>
                <a:cs typeface="Cambria"/>
              </a:rPr>
              <a:t>So,</a:t>
            </a:r>
            <a:r>
              <a:rPr sz="3300" spc="3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135" dirty="0">
                <a:solidFill>
                  <a:srgbClr val="FFFFFF"/>
                </a:solidFill>
                <a:latin typeface="Cambria"/>
                <a:cs typeface="Cambria"/>
              </a:rPr>
              <a:t>irrespective </a:t>
            </a:r>
            <a:r>
              <a:rPr sz="3300" spc="170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3300" spc="415" dirty="0">
                <a:solidFill>
                  <a:srgbClr val="FFFFFF"/>
                </a:solidFill>
                <a:latin typeface="Cambria"/>
                <a:cs typeface="Cambria"/>
              </a:rPr>
              <a:t>   </a:t>
            </a:r>
            <a:r>
              <a:rPr sz="3300" spc="145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3300" spc="420" dirty="0">
                <a:solidFill>
                  <a:srgbClr val="FFFFFF"/>
                </a:solidFill>
                <a:latin typeface="Cambria"/>
                <a:cs typeface="Cambria"/>
              </a:rPr>
              <a:t>   </a:t>
            </a:r>
            <a:r>
              <a:rPr sz="3300" spc="175" dirty="0">
                <a:solidFill>
                  <a:srgbClr val="FFFFFF"/>
                </a:solidFill>
                <a:latin typeface="Cambria"/>
                <a:cs typeface="Cambria"/>
              </a:rPr>
              <a:t>department</a:t>
            </a:r>
            <a:r>
              <a:rPr sz="3300" spc="415" dirty="0">
                <a:solidFill>
                  <a:srgbClr val="FFFFFF"/>
                </a:solidFill>
                <a:latin typeface="Cambria"/>
                <a:cs typeface="Cambria"/>
              </a:rPr>
              <a:t>   </a:t>
            </a:r>
            <a:r>
              <a:rPr sz="3300" spc="155" dirty="0">
                <a:solidFill>
                  <a:srgbClr val="FFFFFF"/>
                </a:solidFill>
                <a:latin typeface="Cambria"/>
                <a:cs typeface="Cambria"/>
              </a:rPr>
              <a:t>almost</a:t>
            </a:r>
            <a:r>
              <a:rPr sz="3300" spc="420" dirty="0">
                <a:solidFill>
                  <a:srgbClr val="FFFFFF"/>
                </a:solidFill>
                <a:latin typeface="Cambria"/>
                <a:cs typeface="Cambria"/>
              </a:rPr>
              <a:t>   </a:t>
            </a:r>
            <a:r>
              <a:rPr sz="3300" dirty="0">
                <a:solidFill>
                  <a:srgbClr val="FFFFFF"/>
                </a:solidFill>
                <a:latin typeface="Cambria"/>
                <a:cs typeface="Cambria"/>
              </a:rPr>
              <a:t>50%</a:t>
            </a:r>
            <a:r>
              <a:rPr sz="3300" spc="415" dirty="0">
                <a:solidFill>
                  <a:srgbClr val="FFFFFF"/>
                </a:solidFill>
                <a:latin typeface="Cambria"/>
                <a:cs typeface="Cambria"/>
              </a:rPr>
              <a:t>   </a:t>
            </a:r>
            <a:r>
              <a:rPr sz="3300" spc="14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3300" spc="160" dirty="0">
                <a:solidFill>
                  <a:srgbClr val="FFFFFF"/>
                </a:solidFill>
                <a:latin typeface="Cambria"/>
                <a:cs typeface="Cambria"/>
              </a:rPr>
              <a:t>employees</a:t>
            </a:r>
            <a:r>
              <a:rPr sz="330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190" dirty="0">
                <a:solidFill>
                  <a:srgbClr val="FFFFFF"/>
                </a:solidFill>
                <a:latin typeface="Cambria"/>
                <a:cs typeface="Cambria"/>
              </a:rPr>
              <a:t>are</a:t>
            </a:r>
            <a:r>
              <a:rPr sz="3300" spc="1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180" dirty="0">
                <a:solidFill>
                  <a:srgbClr val="FFFFFF"/>
                </a:solidFill>
                <a:latin typeface="Cambria"/>
                <a:cs typeface="Cambria"/>
              </a:rPr>
              <a:t>leaving</a:t>
            </a:r>
            <a:r>
              <a:rPr sz="3300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145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3300" spc="1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210" dirty="0">
                <a:solidFill>
                  <a:srgbClr val="FFFFFF"/>
                </a:solidFill>
                <a:latin typeface="Cambria"/>
                <a:cs typeface="Cambria"/>
              </a:rPr>
              <a:t>company.</a:t>
            </a:r>
            <a:endParaRPr sz="3300" dirty="0">
              <a:latin typeface="Cambria"/>
              <a:cs typeface="Cambria"/>
            </a:endParaRPr>
          </a:p>
          <a:p>
            <a:pPr marL="608965" marR="6317615" algn="just">
              <a:lnSpc>
                <a:spcPts val="3750"/>
              </a:lnSpc>
            </a:pPr>
            <a:r>
              <a:rPr sz="3300" spc="204" dirty="0">
                <a:solidFill>
                  <a:srgbClr val="FFFFFF"/>
                </a:solidFill>
                <a:latin typeface="Cambria"/>
                <a:cs typeface="Cambria"/>
              </a:rPr>
              <a:t>From</a:t>
            </a:r>
            <a:r>
              <a:rPr sz="3300" spc="50" dirty="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sz="3300" spc="125" dirty="0">
                <a:solidFill>
                  <a:srgbClr val="FFFFFF"/>
                </a:solidFill>
                <a:latin typeface="Cambria"/>
                <a:cs typeface="Cambria"/>
              </a:rPr>
              <a:t>this</a:t>
            </a:r>
            <a:r>
              <a:rPr sz="3300" spc="55" dirty="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sz="3300" spc="165" dirty="0">
                <a:solidFill>
                  <a:srgbClr val="FFFFFF"/>
                </a:solidFill>
                <a:latin typeface="Cambria"/>
                <a:cs typeface="Cambria"/>
              </a:rPr>
              <a:t>calculation</a:t>
            </a:r>
            <a:r>
              <a:rPr sz="3300" spc="55" dirty="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sz="3300" spc="229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3300" spc="55" dirty="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sz="3300" spc="155" dirty="0">
                <a:solidFill>
                  <a:srgbClr val="FFFFFF"/>
                </a:solidFill>
                <a:latin typeface="Cambria"/>
                <a:cs typeface="Cambria"/>
              </a:rPr>
              <a:t>visualization </a:t>
            </a:r>
            <a:r>
              <a:rPr sz="3300" spc="210" dirty="0">
                <a:solidFill>
                  <a:srgbClr val="FFFFFF"/>
                </a:solidFill>
                <a:latin typeface="Cambria"/>
                <a:cs typeface="Cambria"/>
              </a:rPr>
              <a:t>we</a:t>
            </a:r>
            <a:r>
              <a:rPr sz="3300" spc="2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175" dirty="0">
                <a:solidFill>
                  <a:srgbClr val="FFFFFF"/>
                </a:solidFill>
                <a:latin typeface="Cambria"/>
                <a:cs typeface="Cambria"/>
              </a:rPr>
              <a:t>concluded</a:t>
            </a:r>
            <a:r>
              <a:rPr sz="3300" spc="2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140" dirty="0">
                <a:solidFill>
                  <a:srgbClr val="FFFFFF"/>
                </a:solidFill>
                <a:latin typeface="Cambria"/>
                <a:cs typeface="Cambria"/>
              </a:rPr>
              <a:t>that</a:t>
            </a:r>
            <a:r>
              <a:rPr sz="3300" spc="2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210" dirty="0">
                <a:solidFill>
                  <a:srgbClr val="FFFFFF"/>
                </a:solidFill>
                <a:latin typeface="Cambria"/>
                <a:cs typeface="Cambria"/>
              </a:rPr>
              <a:t>we</a:t>
            </a:r>
            <a:r>
              <a:rPr sz="3300" spc="2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175" dirty="0">
                <a:solidFill>
                  <a:srgbClr val="FFFFFF"/>
                </a:solidFill>
                <a:latin typeface="Cambria"/>
                <a:cs typeface="Cambria"/>
              </a:rPr>
              <a:t>must</a:t>
            </a:r>
            <a:r>
              <a:rPr sz="3300" spc="2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225" dirty="0">
                <a:solidFill>
                  <a:srgbClr val="FFFFFF"/>
                </a:solidFill>
                <a:latin typeface="Cambria"/>
                <a:cs typeface="Cambria"/>
              </a:rPr>
              <a:t>make</a:t>
            </a:r>
            <a:r>
              <a:rPr sz="3300" spc="2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130" dirty="0">
                <a:solidFill>
                  <a:srgbClr val="FFFFFF"/>
                </a:solidFill>
                <a:latin typeface="Cambria"/>
                <a:cs typeface="Cambria"/>
              </a:rPr>
              <a:t>strong </a:t>
            </a:r>
            <a:r>
              <a:rPr sz="3300" spc="120" dirty="0">
                <a:solidFill>
                  <a:srgbClr val="FFFFFF"/>
                </a:solidFill>
                <a:latin typeface="Cambria"/>
                <a:cs typeface="Cambria"/>
              </a:rPr>
              <a:t>strategies</a:t>
            </a:r>
            <a:r>
              <a:rPr sz="3300" spc="4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9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3300" spc="409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210" dirty="0">
                <a:solidFill>
                  <a:srgbClr val="FFFFFF"/>
                </a:solidFill>
                <a:latin typeface="Cambria"/>
                <a:cs typeface="Cambria"/>
              </a:rPr>
              <a:t>minimize</a:t>
            </a:r>
            <a:r>
              <a:rPr sz="3300" spc="4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135" dirty="0">
                <a:solidFill>
                  <a:srgbClr val="FFFFFF"/>
                </a:solidFill>
                <a:latin typeface="Cambria"/>
                <a:cs typeface="Cambria"/>
              </a:rPr>
              <a:t>attrition</a:t>
            </a:r>
            <a:r>
              <a:rPr sz="3300" spc="4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150" dirty="0">
                <a:solidFill>
                  <a:srgbClr val="FFFFFF"/>
                </a:solidFill>
                <a:latin typeface="Cambria"/>
                <a:cs typeface="Cambria"/>
              </a:rPr>
              <a:t>rate</a:t>
            </a:r>
            <a:r>
              <a:rPr sz="3300" spc="4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204" dirty="0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sz="3300" spc="195" dirty="0">
                <a:solidFill>
                  <a:srgbClr val="FFFFFF"/>
                </a:solidFill>
                <a:latin typeface="Cambria"/>
                <a:cs typeface="Cambria"/>
              </a:rPr>
              <a:t>improve</a:t>
            </a:r>
            <a:r>
              <a:rPr sz="3300" spc="705" dirty="0">
                <a:solidFill>
                  <a:srgbClr val="FFFFFF"/>
                </a:solidFill>
                <a:latin typeface="Cambria"/>
                <a:cs typeface="Cambria"/>
              </a:rPr>
              <a:t>   </a:t>
            </a:r>
            <a:r>
              <a:rPr sz="3300" spc="190" dirty="0">
                <a:solidFill>
                  <a:srgbClr val="FFFFFF"/>
                </a:solidFill>
                <a:latin typeface="Cambria"/>
                <a:cs typeface="Cambria"/>
              </a:rPr>
              <a:t>our</a:t>
            </a:r>
            <a:r>
              <a:rPr sz="3300" spc="705" dirty="0">
                <a:solidFill>
                  <a:srgbClr val="FFFFFF"/>
                </a:solidFill>
                <a:latin typeface="Cambria"/>
                <a:cs typeface="Cambria"/>
              </a:rPr>
              <a:t>   </a:t>
            </a:r>
            <a:r>
              <a:rPr sz="3300" spc="185" dirty="0">
                <a:solidFill>
                  <a:srgbClr val="FFFFFF"/>
                </a:solidFill>
                <a:latin typeface="Cambria"/>
                <a:cs typeface="Cambria"/>
              </a:rPr>
              <a:t>company’s</a:t>
            </a:r>
            <a:r>
              <a:rPr sz="3300" spc="710" dirty="0">
                <a:solidFill>
                  <a:srgbClr val="FFFFFF"/>
                </a:solidFill>
                <a:latin typeface="Cambria"/>
                <a:cs typeface="Cambria"/>
              </a:rPr>
              <a:t>   </a:t>
            </a:r>
            <a:r>
              <a:rPr sz="3300" spc="165" dirty="0">
                <a:solidFill>
                  <a:srgbClr val="FFFFFF"/>
                </a:solidFill>
                <a:latin typeface="Cambria"/>
                <a:cs typeface="Cambria"/>
              </a:rPr>
              <a:t>Employee </a:t>
            </a:r>
            <a:r>
              <a:rPr sz="3300" spc="150" dirty="0">
                <a:solidFill>
                  <a:srgbClr val="FFFFFF"/>
                </a:solidFill>
                <a:latin typeface="Cambria"/>
                <a:cs typeface="Cambria"/>
              </a:rPr>
              <a:t>retention</a:t>
            </a:r>
            <a:r>
              <a:rPr sz="3300" spc="300" dirty="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sz="3300" spc="105" dirty="0">
                <a:solidFill>
                  <a:srgbClr val="FFFFFF"/>
                </a:solidFill>
                <a:latin typeface="Cambria"/>
                <a:cs typeface="Cambria"/>
              </a:rPr>
              <a:t>so</a:t>
            </a:r>
            <a:r>
              <a:rPr sz="3300" spc="305" dirty="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sz="3300" spc="140" dirty="0">
                <a:solidFill>
                  <a:srgbClr val="FFFFFF"/>
                </a:solidFill>
                <a:latin typeface="Cambria"/>
                <a:cs typeface="Cambria"/>
              </a:rPr>
              <a:t>that</a:t>
            </a:r>
            <a:r>
              <a:rPr sz="3300" spc="305" dirty="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sz="3300" spc="210" dirty="0">
                <a:solidFill>
                  <a:srgbClr val="FFFFFF"/>
                </a:solidFill>
                <a:latin typeface="Cambria"/>
                <a:cs typeface="Cambria"/>
              </a:rPr>
              <a:t>we</a:t>
            </a:r>
            <a:r>
              <a:rPr sz="3300" spc="305" dirty="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sz="3300" spc="220" dirty="0">
                <a:solidFill>
                  <a:srgbClr val="FFFFFF"/>
                </a:solidFill>
                <a:latin typeface="Cambria"/>
                <a:cs typeface="Cambria"/>
              </a:rPr>
              <a:t>can</a:t>
            </a:r>
            <a:r>
              <a:rPr sz="3300" spc="305" dirty="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sz="3300" spc="190" dirty="0">
                <a:solidFill>
                  <a:srgbClr val="FFFFFF"/>
                </a:solidFill>
                <a:latin typeface="Cambria"/>
                <a:cs typeface="Cambria"/>
              </a:rPr>
              <a:t>balance</a:t>
            </a:r>
            <a:r>
              <a:rPr sz="3300" spc="305" dirty="0">
                <a:solidFill>
                  <a:srgbClr val="FFFFFF"/>
                </a:solidFill>
                <a:latin typeface="Cambria"/>
                <a:cs typeface="Cambria"/>
              </a:rPr>
              <a:t>  </a:t>
            </a:r>
            <a:r>
              <a:rPr sz="3300" spc="120" dirty="0">
                <a:solidFill>
                  <a:srgbClr val="FFFFFF"/>
                </a:solidFill>
                <a:latin typeface="Cambria"/>
                <a:cs typeface="Cambria"/>
              </a:rPr>
              <a:t>the </a:t>
            </a:r>
            <a:r>
              <a:rPr sz="3300" spc="185" dirty="0">
                <a:solidFill>
                  <a:srgbClr val="FFFFFF"/>
                </a:solidFill>
                <a:latin typeface="Cambria"/>
                <a:cs typeface="Cambria"/>
              </a:rPr>
              <a:t>company’s</a:t>
            </a:r>
            <a:r>
              <a:rPr sz="3300" spc="1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170" dirty="0">
                <a:solidFill>
                  <a:srgbClr val="FFFFFF"/>
                </a:solidFill>
                <a:latin typeface="Cambria"/>
                <a:cs typeface="Cambria"/>
              </a:rPr>
              <a:t>growth</a:t>
            </a:r>
            <a:r>
              <a:rPr sz="3300" spc="1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229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33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150" dirty="0">
                <a:solidFill>
                  <a:srgbClr val="FFFFFF"/>
                </a:solidFill>
                <a:latin typeface="Cambria"/>
                <a:cs typeface="Cambria"/>
              </a:rPr>
              <a:t>right</a:t>
            </a:r>
            <a:r>
              <a:rPr sz="3300" spc="1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300" spc="145" dirty="0">
                <a:solidFill>
                  <a:srgbClr val="FFFFFF"/>
                </a:solidFill>
                <a:latin typeface="Cambria"/>
                <a:cs typeface="Cambria"/>
              </a:rPr>
              <a:t>talent.</a:t>
            </a:r>
            <a:endParaRPr sz="3300" dirty="0">
              <a:latin typeface="Cambria"/>
              <a:cs typeface="Cambria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A7D08D-FC45-4D8F-BA5A-BA18A7413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4375" y="4209477"/>
            <a:ext cx="8034025" cy="42430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96229" y="3604966"/>
            <a:ext cx="6826884" cy="4440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600" b="1" spc="190" dirty="0">
                <a:solidFill>
                  <a:srgbClr val="FFFFFF"/>
                </a:solidFill>
                <a:latin typeface="Cambria"/>
                <a:cs typeface="Cambria"/>
              </a:rPr>
              <a:t>Insights</a:t>
            </a:r>
            <a:r>
              <a:rPr sz="4600" b="1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600" b="1" spc="300" dirty="0">
                <a:solidFill>
                  <a:srgbClr val="FFFFFF"/>
                </a:solidFill>
                <a:latin typeface="Cambria"/>
                <a:cs typeface="Cambria"/>
              </a:rPr>
              <a:t>from</a:t>
            </a:r>
            <a:r>
              <a:rPr sz="4600" b="1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600" b="1" spc="170" dirty="0">
                <a:solidFill>
                  <a:srgbClr val="FFFFFF"/>
                </a:solidFill>
                <a:latin typeface="Cambria"/>
                <a:cs typeface="Cambria"/>
              </a:rPr>
              <a:t>KPI</a:t>
            </a:r>
            <a:r>
              <a:rPr sz="4600" b="1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600" b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4600" b="1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600" b="1" spc="50" dirty="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endParaRPr sz="4600" dirty="0">
              <a:latin typeface="Cambria"/>
              <a:cs typeface="Cambria"/>
            </a:endParaRPr>
          </a:p>
          <a:p>
            <a:pPr marL="12700" marR="5080">
              <a:lnSpc>
                <a:spcPct val="119000"/>
              </a:lnSpc>
              <a:spcBef>
                <a:spcPts val="5245"/>
              </a:spcBef>
            </a:pPr>
            <a:r>
              <a:rPr sz="4200" spc="145" dirty="0">
                <a:solidFill>
                  <a:srgbClr val="FFFFFF"/>
                </a:solidFill>
                <a:latin typeface="Cambria"/>
                <a:cs typeface="Cambria"/>
              </a:rPr>
              <a:t>This</a:t>
            </a:r>
            <a:r>
              <a:rPr sz="4200" spc="1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200" spc="160" dirty="0">
                <a:solidFill>
                  <a:srgbClr val="FFFFFF"/>
                </a:solidFill>
                <a:latin typeface="Cambria"/>
                <a:cs typeface="Cambria"/>
              </a:rPr>
              <a:t>KPI</a:t>
            </a:r>
            <a:r>
              <a:rPr sz="4200" spc="1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200" spc="130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4200" spc="1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200" spc="155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4200" spc="1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200" spc="229" dirty="0">
                <a:solidFill>
                  <a:srgbClr val="FFFFFF"/>
                </a:solidFill>
                <a:latin typeface="Cambria"/>
                <a:cs typeface="Cambria"/>
              </a:rPr>
              <a:t>find</a:t>
            </a:r>
            <a:r>
              <a:rPr sz="4200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200" spc="190" dirty="0">
                <a:solidFill>
                  <a:srgbClr val="FFFFFF"/>
                </a:solidFill>
                <a:latin typeface="Cambria"/>
                <a:cs typeface="Cambria"/>
              </a:rPr>
              <a:t>out</a:t>
            </a:r>
            <a:r>
              <a:rPr sz="4200" spc="1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200" spc="180" dirty="0">
                <a:solidFill>
                  <a:srgbClr val="FFFFFF"/>
                </a:solidFill>
                <a:latin typeface="Cambria"/>
                <a:cs typeface="Cambria"/>
              </a:rPr>
              <a:t>the </a:t>
            </a:r>
            <a:r>
              <a:rPr sz="4200" spc="215" dirty="0">
                <a:solidFill>
                  <a:srgbClr val="FFFFFF"/>
                </a:solidFill>
                <a:latin typeface="Cambria"/>
                <a:cs typeface="Cambria"/>
              </a:rPr>
              <a:t>average</a:t>
            </a:r>
            <a:r>
              <a:rPr sz="4200" spc="1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200" spc="235" dirty="0">
                <a:solidFill>
                  <a:srgbClr val="FFFFFF"/>
                </a:solidFill>
                <a:latin typeface="Cambria"/>
                <a:cs typeface="Cambria"/>
              </a:rPr>
              <a:t>hourly</a:t>
            </a:r>
            <a:r>
              <a:rPr sz="4200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200" spc="195" dirty="0">
                <a:solidFill>
                  <a:srgbClr val="FFFFFF"/>
                </a:solidFill>
                <a:latin typeface="Cambria"/>
                <a:cs typeface="Cambria"/>
              </a:rPr>
              <a:t>rate</a:t>
            </a:r>
            <a:r>
              <a:rPr sz="4200" spc="1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200" spc="215" dirty="0">
                <a:solidFill>
                  <a:srgbClr val="FFFFFF"/>
                </a:solidFill>
                <a:latin typeface="Cambria"/>
                <a:cs typeface="Cambria"/>
              </a:rPr>
              <a:t>of </a:t>
            </a:r>
            <a:r>
              <a:rPr sz="4200" spc="235" dirty="0">
                <a:solidFill>
                  <a:srgbClr val="FFFFFF"/>
                </a:solidFill>
                <a:latin typeface="Cambria"/>
                <a:cs typeface="Cambria"/>
              </a:rPr>
              <a:t>male</a:t>
            </a:r>
            <a:r>
              <a:rPr sz="4200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200" spc="210" dirty="0">
                <a:solidFill>
                  <a:srgbClr val="FFFFFF"/>
                </a:solidFill>
                <a:latin typeface="Cambria"/>
                <a:cs typeface="Cambria"/>
              </a:rPr>
              <a:t>research</a:t>
            </a:r>
            <a:r>
              <a:rPr sz="4200" spc="1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200" spc="150" dirty="0">
                <a:solidFill>
                  <a:srgbClr val="FFFFFF"/>
                </a:solidFill>
                <a:latin typeface="Cambria"/>
                <a:cs typeface="Cambria"/>
              </a:rPr>
              <a:t>scientists </a:t>
            </a:r>
            <a:r>
              <a:rPr sz="4200" spc="229" dirty="0">
                <a:solidFill>
                  <a:srgbClr val="FFFFFF"/>
                </a:solidFill>
                <a:latin typeface="Cambria"/>
                <a:cs typeface="Cambria"/>
              </a:rPr>
              <a:t>which</a:t>
            </a:r>
            <a:r>
              <a:rPr sz="4200" spc="1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200" spc="130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4200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200" spc="-10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lang="en-US" sz="4200" spc="-1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sz="4200" spc="-10" dirty="0">
                <a:solidFill>
                  <a:srgbClr val="FFFFFF"/>
                </a:solidFill>
                <a:latin typeface="Cambria"/>
                <a:cs typeface="Cambria"/>
              </a:rPr>
              <a:t>.</a:t>
            </a:r>
            <a:r>
              <a:rPr lang="en-US" sz="4200" spc="-10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endParaRPr sz="42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2055" rIns="0" bIns="0" rtlCol="0">
            <a:spAutoFit/>
          </a:bodyPr>
          <a:lstStyle/>
          <a:p>
            <a:pPr marL="1111250" algn="ctr">
              <a:lnSpc>
                <a:spcPts val="6140"/>
              </a:lnSpc>
              <a:spcBef>
                <a:spcPts val="100"/>
              </a:spcBef>
            </a:pPr>
            <a:r>
              <a:rPr spc="204" dirty="0"/>
              <a:t>KPI</a:t>
            </a:r>
            <a:r>
              <a:rPr spc="130" dirty="0"/>
              <a:t> </a:t>
            </a:r>
            <a:r>
              <a:rPr dirty="0"/>
              <a:t>-</a:t>
            </a:r>
            <a:r>
              <a:rPr spc="130" dirty="0"/>
              <a:t> </a:t>
            </a:r>
            <a:r>
              <a:rPr spc="-50" dirty="0"/>
              <a:t>2</a:t>
            </a:r>
          </a:p>
          <a:p>
            <a:pPr marL="1123950" marR="5080" algn="ctr">
              <a:lnSpc>
                <a:spcPts val="5180"/>
              </a:lnSpc>
              <a:spcBef>
                <a:spcPts val="365"/>
              </a:spcBef>
            </a:pPr>
            <a:r>
              <a:rPr sz="4850" spc="270" dirty="0"/>
              <a:t>Average</a:t>
            </a:r>
            <a:r>
              <a:rPr sz="4850" spc="204" dirty="0"/>
              <a:t> </a:t>
            </a:r>
            <a:r>
              <a:rPr sz="4850" spc="275" dirty="0"/>
              <a:t>Hourly</a:t>
            </a:r>
            <a:r>
              <a:rPr sz="4850" spc="210" dirty="0"/>
              <a:t> </a:t>
            </a:r>
            <a:r>
              <a:rPr sz="4850" spc="225" dirty="0"/>
              <a:t>rate</a:t>
            </a:r>
            <a:r>
              <a:rPr sz="4850" spc="210" dirty="0"/>
              <a:t> </a:t>
            </a:r>
            <a:r>
              <a:rPr sz="4850" spc="280" dirty="0"/>
              <a:t>of</a:t>
            </a:r>
            <a:r>
              <a:rPr sz="4850" spc="210" dirty="0"/>
              <a:t> </a:t>
            </a:r>
            <a:r>
              <a:rPr sz="4850" spc="285" dirty="0"/>
              <a:t>Male</a:t>
            </a:r>
            <a:r>
              <a:rPr sz="4850" spc="210" dirty="0"/>
              <a:t> </a:t>
            </a:r>
            <a:r>
              <a:rPr sz="4850" spc="215" dirty="0"/>
              <a:t>Research </a:t>
            </a:r>
            <a:r>
              <a:rPr sz="4850" spc="200" dirty="0"/>
              <a:t>Scientist</a:t>
            </a:r>
            <a:endParaRPr sz="48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3DDB6C-61CC-409E-BE39-44CC47954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0" y="4305300"/>
            <a:ext cx="8517308" cy="3962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016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24000" y="232705"/>
            <a:ext cx="14554200" cy="2505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pc="204" dirty="0"/>
              <a:t>KPI</a:t>
            </a:r>
            <a:r>
              <a:rPr spc="130" dirty="0"/>
              <a:t> </a:t>
            </a:r>
            <a:r>
              <a:rPr lang="en-US" dirty="0"/>
              <a:t>–</a:t>
            </a:r>
            <a:r>
              <a:rPr lang="en-US" spc="-50" dirty="0"/>
              <a:t>3 </a:t>
            </a:r>
            <a:br>
              <a:rPr lang="en-US" spc="-50" dirty="0"/>
            </a:br>
            <a:r>
              <a:rPr lang="en-US" sz="5400" b="1" spc="229" dirty="0">
                <a:solidFill>
                  <a:srgbClr val="FFFFFF"/>
                </a:solidFill>
                <a:latin typeface="Cambria"/>
                <a:cs typeface="Cambria"/>
              </a:rPr>
              <a:t>Attrition</a:t>
            </a:r>
            <a:r>
              <a:rPr lang="en-US" sz="5400" b="1" spc="204" dirty="0">
                <a:solidFill>
                  <a:srgbClr val="FFFFFF"/>
                </a:solidFill>
                <a:latin typeface="Cambria"/>
                <a:cs typeface="Cambria"/>
              </a:rPr>
              <a:t> Rate </a:t>
            </a:r>
            <a:r>
              <a:rPr lang="en-US" sz="5400" b="1" spc="215" dirty="0">
                <a:solidFill>
                  <a:srgbClr val="FFFFFF"/>
                </a:solidFill>
                <a:latin typeface="Cambria"/>
                <a:cs typeface="Cambria"/>
              </a:rPr>
              <a:t>Vs</a:t>
            </a:r>
            <a:r>
              <a:rPr lang="en-US" sz="5400" b="1" spc="2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US" sz="5400" b="1" spc="265" dirty="0">
                <a:solidFill>
                  <a:srgbClr val="FFFFFF"/>
                </a:solidFill>
                <a:latin typeface="Cambria"/>
                <a:cs typeface="Cambria"/>
              </a:rPr>
              <a:t>Monthly</a:t>
            </a:r>
            <a:r>
              <a:rPr lang="en-US" sz="5400" b="1" spc="20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US" sz="5400" b="1" spc="270" dirty="0">
                <a:solidFill>
                  <a:srgbClr val="FFFFFF"/>
                </a:solidFill>
                <a:latin typeface="Cambria"/>
                <a:cs typeface="Cambria"/>
              </a:rPr>
              <a:t>Income</a:t>
            </a:r>
            <a:r>
              <a:rPr lang="en-US" sz="5400" b="1" spc="20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US" sz="5400" b="1" spc="210" dirty="0">
                <a:solidFill>
                  <a:srgbClr val="FFFFFF"/>
                </a:solidFill>
                <a:latin typeface="Cambria"/>
                <a:cs typeface="Cambria"/>
              </a:rPr>
              <a:t>Stats</a:t>
            </a:r>
            <a:r>
              <a:rPr lang="en-US" sz="5400" dirty="0">
                <a:latin typeface="Cambria"/>
                <a:cs typeface="Cambria"/>
              </a:rPr>
              <a:t/>
            </a:r>
            <a:br>
              <a:rPr lang="en-US" sz="5400" dirty="0">
                <a:latin typeface="Cambria"/>
                <a:cs typeface="Cambria"/>
              </a:rPr>
            </a:br>
            <a:endParaRPr spc="-50" dirty="0"/>
          </a:p>
        </p:txBody>
      </p:sp>
      <p:sp>
        <p:nvSpPr>
          <p:cNvPr id="7" name="object 7"/>
          <p:cNvSpPr txBox="1"/>
          <p:nvPr/>
        </p:nvSpPr>
        <p:spPr>
          <a:xfrm>
            <a:off x="323444" y="3162300"/>
            <a:ext cx="9035332" cy="631070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0"/>
              </a:spcBef>
            </a:pPr>
            <a:r>
              <a:rPr sz="4100" b="1" spc="165" dirty="0">
                <a:solidFill>
                  <a:srgbClr val="FFFFFF"/>
                </a:solidFill>
                <a:latin typeface="Cambria"/>
                <a:cs typeface="Cambria"/>
              </a:rPr>
              <a:t>Insights</a:t>
            </a:r>
            <a:r>
              <a:rPr sz="4100" b="1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100" b="1" spc="270" dirty="0">
                <a:solidFill>
                  <a:srgbClr val="FFFFFF"/>
                </a:solidFill>
                <a:latin typeface="Cambria"/>
                <a:cs typeface="Cambria"/>
              </a:rPr>
              <a:t>from</a:t>
            </a:r>
            <a:r>
              <a:rPr sz="4100" b="1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100" b="1" spc="160" dirty="0">
                <a:solidFill>
                  <a:srgbClr val="FFFFFF"/>
                </a:solidFill>
                <a:latin typeface="Cambria"/>
                <a:cs typeface="Cambria"/>
              </a:rPr>
              <a:t>KPI</a:t>
            </a:r>
            <a:r>
              <a:rPr sz="4100" b="1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100" b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4100" b="1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100" b="1" spc="40" dirty="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endParaRPr lang="en-US" sz="4100" b="1" spc="40" dirty="0">
              <a:solidFill>
                <a:srgbClr val="FFFFFF"/>
              </a:solidFill>
              <a:latin typeface="Cambria"/>
              <a:cs typeface="Cambria"/>
            </a:endParaRPr>
          </a:p>
          <a:p>
            <a:pPr marL="584200" indent="-571500">
              <a:lnSpc>
                <a:spcPct val="100000"/>
              </a:lnSpc>
              <a:spcBef>
                <a:spcPts val="5250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Cambria"/>
                <a:cs typeface="Cambria"/>
              </a:rPr>
              <a:t>This chart highlights that employees in the ₹6k–₹9k monthly income bracket exhibit the highest attrition rate compared to other income groups. Interestingly, employees earning less than ₹3k or more than ₹9k have lower attrition rates, suggesting that mid-income earners are more dissatisfied or have better alternative opportunities.</a:t>
            </a:r>
            <a:endParaRPr sz="3600" dirty="0">
              <a:solidFill>
                <a:schemeClr val="bg1"/>
              </a:solidFill>
              <a:latin typeface="Cambria"/>
              <a:cs typeface="Cambria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F19874B-82C5-4112-8456-BF2EE8EEC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2787" y="4762500"/>
            <a:ext cx="7530081" cy="40891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C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70788" y="3228838"/>
              <a:ext cx="4781549" cy="314324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107264" y="751670"/>
            <a:ext cx="207327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spc="195" dirty="0"/>
              <a:t>KPI</a:t>
            </a:r>
            <a:r>
              <a:rPr sz="5100" spc="130" dirty="0"/>
              <a:t> </a:t>
            </a:r>
            <a:r>
              <a:rPr sz="5100" dirty="0"/>
              <a:t>-</a:t>
            </a:r>
            <a:r>
              <a:rPr sz="5100" spc="135" dirty="0"/>
              <a:t> </a:t>
            </a:r>
            <a:r>
              <a:rPr sz="5100" spc="-60" dirty="0"/>
              <a:t>4</a:t>
            </a:r>
            <a:endParaRPr sz="5100"/>
          </a:p>
        </p:txBody>
      </p:sp>
      <p:grpSp>
        <p:nvGrpSpPr>
          <p:cNvPr id="7" name="object 7"/>
          <p:cNvGrpSpPr/>
          <p:nvPr/>
        </p:nvGrpSpPr>
        <p:grpSpPr>
          <a:xfrm>
            <a:off x="753892" y="3993637"/>
            <a:ext cx="142875" cy="3409950"/>
            <a:chOff x="753892" y="3993637"/>
            <a:chExt cx="142875" cy="340995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3892" y="3993637"/>
              <a:ext cx="142875" cy="1428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3892" y="7260711"/>
              <a:ext cx="142875" cy="14287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436392" y="1448900"/>
            <a:ext cx="15327630" cy="7526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100580">
              <a:lnSpc>
                <a:spcPct val="100000"/>
              </a:lnSpc>
              <a:spcBef>
                <a:spcPts val="110"/>
              </a:spcBef>
            </a:pPr>
            <a:r>
              <a:rPr sz="4550" b="1" spc="260" dirty="0">
                <a:solidFill>
                  <a:srgbClr val="FFFFFF"/>
                </a:solidFill>
                <a:latin typeface="Cambria"/>
                <a:cs typeface="Cambria"/>
              </a:rPr>
              <a:t>Average</a:t>
            </a:r>
            <a:r>
              <a:rPr sz="4550" b="1" spc="1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550" b="1" spc="245" dirty="0">
                <a:solidFill>
                  <a:srgbClr val="FFFFFF"/>
                </a:solidFill>
                <a:latin typeface="Cambria"/>
                <a:cs typeface="Cambria"/>
              </a:rPr>
              <a:t>Working</a:t>
            </a:r>
            <a:r>
              <a:rPr sz="4550" b="1" spc="1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550" b="1" spc="240" dirty="0">
                <a:solidFill>
                  <a:srgbClr val="FFFFFF"/>
                </a:solidFill>
                <a:latin typeface="Cambria"/>
                <a:cs typeface="Cambria"/>
              </a:rPr>
              <a:t>Years</a:t>
            </a:r>
            <a:r>
              <a:rPr sz="4550" b="1" spc="1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550" b="1" spc="265" dirty="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sz="4550" b="1" spc="1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550" b="1" spc="254" dirty="0">
                <a:solidFill>
                  <a:srgbClr val="FFFFFF"/>
                </a:solidFill>
                <a:latin typeface="Cambria"/>
                <a:cs typeface="Cambria"/>
              </a:rPr>
              <a:t>each</a:t>
            </a:r>
            <a:r>
              <a:rPr sz="4550" b="1" spc="1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550" b="1" spc="229" dirty="0">
                <a:solidFill>
                  <a:srgbClr val="FFFFFF"/>
                </a:solidFill>
                <a:latin typeface="Cambria"/>
                <a:cs typeface="Cambria"/>
              </a:rPr>
              <a:t>Department</a:t>
            </a:r>
            <a:endParaRPr sz="455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965"/>
              </a:spcBef>
            </a:pPr>
            <a:r>
              <a:rPr sz="3800" b="1" spc="150" dirty="0">
                <a:solidFill>
                  <a:srgbClr val="FFFFFF"/>
                </a:solidFill>
                <a:latin typeface="Cambria"/>
                <a:cs typeface="Cambria"/>
              </a:rPr>
              <a:t>Insights</a:t>
            </a:r>
            <a:r>
              <a:rPr sz="3800" b="1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800" b="1" spc="250" dirty="0">
                <a:solidFill>
                  <a:srgbClr val="FFFFFF"/>
                </a:solidFill>
                <a:latin typeface="Cambria"/>
                <a:cs typeface="Cambria"/>
              </a:rPr>
              <a:t>from</a:t>
            </a:r>
            <a:r>
              <a:rPr sz="3800" b="1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800" b="1" spc="140" dirty="0">
                <a:solidFill>
                  <a:srgbClr val="FFFFFF"/>
                </a:solidFill>
                <a:latin typeface="Cambria"/>
                <a:cs typeface="Cambria"/>
              </a:rPr>
              <a:t>KPI</a:t>
            </a:r>
            <a:r>
              <a:rPr sz="3800" b="1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800" b="1" spc="-25" dirty="0">
                <a:solidFill>
                  <a:srgbClr val="FFFFFF"/>
                </a:solidFill>
                <a:latin typeface="Cambria"/>
                <a:cs typeface="Cambria"/>
              </a:rPr>
              <a:t>4:</a:t>
            </a:r>
            <a:endParaRPr sz="3800" dirty="0">
              <a:latin typeface="Cambria"/>
              <a:cs typeface="Cambria"/>
            </a:endParaRPr>
          </a:p>
          <a:p>
            <a:pPr marL="663575" marR="7076440">
              <a:lnSpc>
                <a:spcPts val="3679"/>
              </a:lnSpc>
              <a:spcBef>
                <a:spcPts val="3645"/>
              </a:spcBef>
            </a:pPr>
            <a:r>
              <a:rPr sz="3600" spc="225" dirty="0">
                <a:solidFill>
                  <a:srgbClr val="FFFFFF"/>
                </a:solidFill>
                <a:latin typeface="Cambria"/>
                <a:cs typeface="Cambria"/>
              </a:rPr>
              <a:t>From</a:t>
            </a:r>
            <a:r>
              <a:rPr sz="36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FFFFFF"/>
                </a:solidFill>
                <a:latin typeface="Cambria"/>
                <a:cs typeface="Cambria"/>
              </a:rPr>
              <a:t>this</a:t>
            </a:r>
            <a:r>
              <a:rPr sz="36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225" dirty="0">
                <a:solidFill>
                  <a:srgbClr val="FFFFFF"/>
                </a:solidFill>
                <a:latin typeface="Cambria"/>
                <a:cs typeface="Cambria"/>
              </a:rPr>
              <a:t>we</a:t>
            </a:r>
            <a:r>
              <a:rPr sz="36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250" dirty="0">
                <a:solidFill>
                  <a:srgbClr val="FFFFFF"/>
                </a:solidFill>
                <a:latin typeface="Cambria"/>
                <a:cs typeface="Cambria"/>
              </a:rPr>
              <a:t>can</a:t>
            </a:r>
            <a:r>
              <a:rPr sz="36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30" dirty="0">
                <a:solidFill>
                  <a:srgbClr val="FFFFFF"/>
                </a:solidFill>
                <a:latin typeface="Cambria"/>
                <a:cs typeface="Cambria"/>
              </a:rPr>
              <a:t>see</a:t>
            </a:r>
            <a:r>
              <a:rPr sz="36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65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36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95" dirty="0">
                <a:solidFill>
                  <a:srgbClr val="FFFFFF"/>
                </a:solidFill>
                <a:latin typeface="Cambria"/>
                <a:cs typeface="Cambria"/>
              </a:rPr>
              <a:t>average </a:t>
            </a:r>
            <a:r>
              <a:rPr sz="3600" spc="200" dirty="0">
                <a:solidFill>
                  <a:srgbClr val="FFFFFF"/>
                </a:solidFill>
                <a:latin typeface="Cambria"/>
                <a:cs typeface="Cambria"/>
              </a:rPr>
              <a:t>working</a:t>
            </a:r>
            <a:r>
              <a:rPr sz="36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FFFFFF"/>
                </a:solidFill>
                <a:latin typeface="Cambria"/>
                <a:cs typeface="Cambria"/>
              </a:rPr>
              <a:t>years</a:t>
            </a:r>
            <a:r>
              <a:rPr sz="36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225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3600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75" dirty="0">
                <a:solidFill>
                  <a:srgbClr val="FFFFFF"/>
                </a:solidFill>
                <a:latin typeface="Cambria"/>
                <a:cs typeface="Cambria"/>
              </a:rPr>
              <a:t>software </a:t>
            </a:r>
            <a:r>
              <a:rPr sz="3600" spc="200" dirty="0">
                <a:solidFill>
                  <a:srgbClr val="FFFFFF"/>
                </a:solidFill>
                <a:latin typeface="Cambria"/>
                <a:cs typeface="Cambria"/>
              </a:rPr>
              <a:t>department</a:t>
            </a:r>
            <a:r>
              <a:rPr sz="36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00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36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215" dirty="0">
                <a:solidFill>
                  <a:srgbClr val="FFFFFF"/>
                </a:solidFill>
                <a:latin typeface="Cambria"/>
                <a:cs typeface="Cambria"/>
              </a:rPr>
              <a:t>high</a:t>
            </a:r>
            <a:r>
              <a:rPr sz="36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65" dirty="0">
                <a:solidFill>
                  <a:srgbClr val="FFFFFF"/>
                </a:solidFill>
                <a:latin typeface="Cambria"/>
                <a:cs typeface="Cambria"/>
              </a:rPr>
              <a:t>as</a:t>
            </a:r>
            <a:r>
              <a:rPr sz="36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210" dirty="0">
                <a:solidFill>
                  <a:srgbClr val="FFFFFF"/>
                </a:solidFill>
                <a:latin typeface="Cambria"/>
                <a:cs typeface="Cambria"/>
              </a:rPr>
              <a:t>compared</a:t>
            </a:r>
            <a:r>
              <a:rPr sz="36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80" dirty="0">
                <a:solidFill>
                  <a:srgbClr val="FFFFFF"/>
                </a:solidFill>
                <a:latin typeface="Cambria"/>
                <a:cs typeface="Cambria"/>
              </a:rPr>
              <a:t>to </a:t>
            </a:r>
            <a:r>
              <a:rPr sz="3600" spc="165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36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20" dirty="0">
                <a:solidFill>
                  <a:srgbClr val="FFFFFF"/>
                </a:solidFill>
                <a:latin typeface="Cambria"/>
                <a:cs typeface="Cambria"/>
              </a:rPr>
              <a:t>rest</a:t>
            </a:r>
            <a:r>
              <a:rPr sz="36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95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36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65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36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75" dirty="0">
                <a:solidFill>
                  <a:srgbClr val="FFFFFF"/>
                </a:solidFill>
                <a:latin typeface="Cambria"/>
                <a:cs typeface="Cambria"/>
              </a:rPr>
              <a:t>departments</a:t>
            </a:r>
            <a:r>
              <a:rPr sz="36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225" dirty="0">
                <a:solidFill>
                  <a:srgbClr val="FFFFFF"/>
                </a:solidFill>
                <a:latin typeface="Cambria"/>
                <a:cs typeface="Cambria"/>
              </a:rPr>
              <a:t>and </a:t>
            </a:r>
            <a:r>
              <a:rPr sz="3600" spc="150" dirty="0">
                <a:solidFill>
                  <a:srgbClr val="FFFFFF"/>
                </a:solidFill>
                <a:latin typeface="Cambria"/>
                <a:cs typeface="Cambria"/>
              </a:rPr>
              <a:t>lowest </a:t>
            </a:r>
            <a:r>
              <a:rPr sz="3600" spc="100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36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90" dirty="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sz="36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75" dirty="0">
                <a:solidFill>
                  <a:srgbClr val="FFFFFF"/>
                </a:solidFill>
                <a:latin typeface="Cambria"/>
                <a:cs typeface="Cambria"/>
              </a:rPr>
              <a:t>Research</a:t>
            </a:r>
            <a:r>
              <a:rPr sz="3600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20" dirty="0">
                <a:solidFill>
                  <a:srgbClr val="FFFFFF"/>
                </a:solidFill>
                <a:latin typeface="Cambria"/>
                <a:cs typeface="Cambria"/>
              </a:rPr>
              <a:t>&amp; </a:t>
            </a:r>
            <a:r>
              <a:rPr sz="3600" spc="204" dirty="0">
                <a:solidFill>
                  <a:srgbClr val="FFFFFF"/>
                </a:solidFill>
                <a:latin typeface="Cambria"/>
                <a:cs typeface="Cambria"/>
              </a:rPr>
              <a:t>Development</a:t>
            </a:r>
            <a:r>
              <a:rPr sz="36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200" dirty="0">
                <a:solidFill>
                  <a:srgbClr val="FFFFFF"/>
                </a:solidFill>
                <a:latin typeface="Cambria"/>
                <a:cs typeface="Cambria"/>
              </a:rPr>
              <a:t>Department.</a:t>
            </a:r>
            <a:endParaRPr sz="3600" dirty="0">
              <a:latin typeface="Cambria"/>
              <a:cs typeface="Cambria"/>
            </a:endParaRPr>
          </a:p>
          <a:p>
            <a:pPr marL="663575" marR="7033895">
              <a:lnSpc>
                <a:spcPts val="3679"/>
              </a:lnSpc>
              <a:spcBef>
                <a:spcPts val="3645"/>
              </a:spcBef>
            </a:pPr>
            <a:r>
              <a:rPr sz="3600" spc="225" dirty="0">
                <a:solidFill>
                  <a:srgbClr val="FFFFFF"/>
                </a:solidFill>
                <a:latin typeface="Cambria"/>
                <a:cs typeface="Cambria"/>
              </a:rPr>
              <a:t>From</a:t>
            </a:r>
            <a:r>
              <a:rPr sz="36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65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36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85" dirty="0">
                <a:solidFill>
                  <a:srgbClr val="FFFFFF"/>
                </a:solidFill>
                <a:latin typeface="Cambria"/>
                <a:cs typeface="Cambria"/>
              </a:rPr>
              <a:t>analysis</a:t>
            </a:r>
            <a:r>
              <a:rPr sz="36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225" dirty="0">
                <a:solidFill>
                  <a:srgbClr val="FFFFFF"/>
                </a:solidFill>
                <a:latin typeface="Cambria"/>
                <a:cs typeface="Cambria"/>
              </a:rPr>
              <a:t>we</a:t>
            </a:r>
            <a:r>
              <a:rPr sz="3600" spc="1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250" dirty="0">
                <a:solidFill>
                  <a:srgbClr val="FFFFFF"/>
                </a:solidFill>
                <a:latin typeface="Cambria"/>
                <a:cs typeface="Cambria"/>
              </a:rPr>
              <a:t>can</a:t>
            </a:r>
            <a:r>
              <a:rPr sz="3600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95" dirty="0">
                <a:solidFill>
                  <a:srgbClr val="FFFFFF"/>
                </a:solidFill>
                <a:latin typeface="Cambria"/>
                <a:cs typeface="Cambria"/>
              </a:rPr>
              <a:t>conclude </a:t>
            </a:r>
            <a:r>
              <a:rPr sz="3600" spc="150" dirty="0">
                <a:solidFill>
                  <a:srgbClr val="FFFFFF"/>
                </a:solidFill>
                <a:latin typeface="Cambria"/>
                <a:cs typeface="Cambria"/>
              </a:rPr>
              <a:t>that</a:t>
            </a:r>
            <a:r>
              <a:rPr sz="3600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204" dirty="0">
                <a:solidFill>
                  <a:srgbClr val="FFFFFF"/>
                </a:solidFill>
                <a:latin typeface="Cambria"/>
                <a:cs typeface="Cambria"/>
              </a:rPr>
              <a:t>average</a:t>
            </a:r>
            <a:r>
              <a:rPr sz="3600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200" dirty="0">
                <a:solidFill>
                  <a:srgbClr val="FFFFFF"/>
                </a:solidFill>
                <a:latin typeface="Cambria"/>
                <a:cs typeface="Cambria"/>
              </a:rPr>
              <a:t>working</a:t>
            </a:r>
            <a:r>
              <a:rPr sz="360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80" dirty="0">
                <a:solidFill>
                  <a:srgbClr val="FFFFFF"/>
                </a:solidFill>
                <a:latin typeface="Cambria"/>
                <a:cs typeface="Cambria"/>
              </a:rPr>
              <a:t>years</a:t>
            </a:r>
            <a:r>
              <a:rPr sz="3600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65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endParaRPr sz="3600" dirty="0">
              <a:latin typeface="Cambria"/>
              <a:cs typeface="Cambria"/>
            </a:endParaRPr>
          </a:p>
          <a:p>
            <a:pPr marL="663575">
              <a:lnSpc>
                <a:spcPts val="3329"/>
              </a:lnSpc>
            </a:pPr>
            <a:r>
              <a:rPr sz="3600" spc="204" dirty="0">
                <a:solidFill>
                  <a:srgbClr val="FFFFFF"/>
                </a:solidFill>
                <a:latin typeface="Cambria"/>
                <a:cs typeface="Cambria"/>
              </a:rPr>
              <a:t>approximately</a:t>
            </a:r>
            <a:r>
              <a:rPr sz="360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US" sz="3600" spc="16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3600" dirty="0">
                <a:solidFill>
                  <a:srgbClr val="FFFFFF"/>
                </a:solidFill>
                <a:latin typeface="Cambria"/>
                <a:cs typeface="Cambria"/>
              </a:rPr>
              <a:t>0</a:t>
            </a:r>
            <a:r>
              <a:rPr sz="360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90" dirty="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sz="3600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70" dirty="0">
                <a:solidFill>
                  <a:srgbClr val="FFFFFF"/>
                </a:solidFill>
                <a:latin typeface="Cambria"/>
                <a:cs typeface="Cambria"/>
              </a:rPr>
              <a:t>all</a:t>
            </a:r>
            <a:r>
              <a:rPr sz="3600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3600" spc="14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endParaRPr sz="3600" dirty="0">
              <a:latin typeface="Cambria"/>
              <a:cs typeface="Cambria"/>
            </a:endParaRPr>
          </a:p>
          <a:p>
            <a:pPr marL="663575">
              <a:lnSpc>
                <a:spcPts val="4000"/>
              </a:lnSpc>
            </a:pPr>
            <a:r>
              <a:rPr sz="3600" spc="175" dirty="0">
                <a:solidFill>
                  <a:srgbClr val="FFFFFF"/>
                </a:solidFill>
                <a:latin typeface="Cambria"/>
                <a:cs typeface="Cambria"/>
              </a:rPr>
              <a:t>departments.</a:t>
            </a:r>
            <a:endParaRPr sz="3600" dirty="0">
              <a:latin typeface="Cambria"/>
              <a:cs typeface="Cambria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3CED492-1A54-47B4-81D9-9B26E9DA11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4726" y="3871910"/>
            <a:ext cx="7493972" cy="4542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C3C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-92900"/>
            <a:ext cx="18288000" cy="10287000"/>
            <a:chOff x="0" y="0"/>
            <a:chExt cx="18288000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45046" y="3428881"/>
              <a:ext cx="5029199" cy="274319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6550" y="-54800"/>
            <a:ext cx="17299616" cy="24750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z="5300" spc="210" dirty="0"/>
              <a:t>KPI</a:t>
            </a:r>
            <a:r>
              <a:rPr sz="5300" spc="125" dirty="0"/>
              <a:t> </a:t>
            </a:r>
            <a:r>
              <a:rPr lang="en-US" sz="5300" dirty="0"/>
              <a:t>-</a:t>
            </a:r>
            <a:r>
              <a:rPr sz="5300" spc="125" dirty="0"/>
              <a:t> </a:t>
            </a:r>
            <a:r>
              <a:rPr sz="5300" spc="-50" dirty="0"/>
              <a:t>5</a:t>
            </a:r>
            <a:r>
              <a:rPr lang="en-US" sz="5300" spc="-50" dirty="0"/>
              <a:t/>
            </a:r>
            <a:br>
              <a:rPr lang="en-US" sz="5300" spc="-50" dirty="0"/>
            </a:br>
            <a:r>
              <a:rPr lang="en-US" sz="5400" b="1" spc="190" dirty="0">
                <a:solidFill>
                  <a:srgbClr val="FFFFFF"/>
                </a:solidFill>
                <a:latin typeface="Cambria"/>
                <a:cs typeface="Cambria"/>
              </a:rPr>
              <a:t>Job </a:t>
            </a:r>
            <a:r>
              <a:rPr lang="en-US" sz="5400" b="1" spc="200" dirty="0">
                <a:solidFill>
                  <a:srgbClr val="FFFFFF"/>
                </a:solidFill>
                <a:latin typeface="Cambria"/>
                <a:cs typeface="Cambria"/>
              </a:rPr>
              <a:t>Role</a:t>
            </a:r>
            <a:r>
              <a:rPr lang="en-US" sz="5400" b="1" spc="1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US" sz="5400" b="1" spc="210" dirty="0">
                <a:solidFill>
                  <a:srgbClr val="FFFFFF"/>
                </a:solidFill>
                <a:latin typeface="Cambria"/>
                <a:cs typeface="Cambria"/>
              </a:rPr>
              <a:t>Vs</a:t>
            </a:r>
            <a:r>
              <a:rPr lang="en-US" sz="5400" b="1" spc="1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US" sz="5400" b="1" spc="295" dirty="0">
                <a:solidFill>
                  <a:srgbClr val="FFFFFF"/>
                </a:solidFill>
                <a:latin typeface="Cambria"/>
                <a:cs typeface="Cambria"/>
              </a:rPr>
              <a:t>Work</a:t>
            </a:r>
            <a:r>
              <a:rPr lang="en-US" sz="5400" b="1" spc="1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US" sz="5400" b="1" spc="305" dirty="0">
                <a:solidFill>
                  <a:srgbClr val="FFFFFF"/>
                </a:solidFill>
                <a:latin typeface="Cambria"/>
                <a:cs typeface="Cambria"/>
              </a:rPr>
              <a:t>Life</a:t>
            </a:r>
            <a:r>
              <a:rPr lang="en-US" sz="5400" b="1" spc="1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US" sz="5400" b="1" spc="225" dirty="0">
                <a:solidFill>
                  <a:srgbClr val="FFFFFF"/>
                </a:solidFill>
                <a:latin typeface="Cambria"/>
                <a:cs typeface="Cambria"/>
              </a:rPr>
              <a:t>Balance</a:t>
            </a:r>
            <a:r>
              <a:rPr lang="en-US" sz="5400" b="1" spc="19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US" sz="5400" b="1" spc="290" dirty="0">
                <a:solidFill>
                  <a:srgbClr val="FFFFFF"/>
                </a:solidFill>
                <a:latin typeface="Cambria"/>
                <a:cs typeface="Cambria"/>
              </a:rPr>
              <a:t>for</a:t>
            </a:r>
            <a:r>
              <a:rPr lang="en-US" sz="5400" b="1" spc="1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US" sz="5400" b="1" spc="175" dirty="0">
                <a:solidFill>
                  <a:srgbClr val="FFFFFF"/>
                </a:solidFill>
                <a:latin typeface="Cambria"/>
                <a:cs typeface="Cambria"/>
              </a:rPr>
              <a:t>Total </a:t>
            </a:r>
            <a:r>
              <a:rPr lang="en-US" sz="5400" b="1" spc="220" dirty="0">
                <a:solidFill>
                  <a:srgbClr val="FFFFFF"/>
                </a:solidFill>
                <a:latin typeface="Cambria"/>
                <a:cs typeface="Cambria"/>
              </a:rPr>
              <a:t>Employees</a:t>
            </a:r>
            <a:r>
              <a:rPr lang="en-US" sz="5400" dirty="0">
                <a:latin typeface="Cambria"/>
                <a:cs typeface="Cambria"/>
              </a:rPr>
              <a:t/>
            </a:r>
            <a:br>
              <a:rPr lang="en-US" sz="5400" dirty="0">
                <a:latin typeface="Cambria"/>
                <a:cs typeface="Cambria"/>
              </a:rPr>
            </a:br>
            <a:r>
              <a:rPr lang="en-US" sz="5300" spc="-50" dirty="0"/>
              <a:t> </a:t>
            </a:r>
            <a:endParaRPr sz="5300" dirty="0"/>
          </a:p>
        </p:txBody>
      </p:sp>
      <p:sp>
        <p:nvSpPr>
          <p:cNvPr id="13" name="object 13"/>
          <p:cNvSpPr txBox="1"/>
          <p:nvPr/>
        </p:nvSpPr>
        <p:spPr>
          <a:xfrm>
            <a:off x="386549" y="2450226"/>
            <a:ext cx="9441661" cy="7509748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90"/>
              </a:spcBef>
            </a:pPr>
            <a:r>
              <a:rPr sz="4150" b="1" spc="170" dirty="0">
                <a:solidFill>
                  <a:srgbClr val="FFFFFF"/>
                </a:solidFill>
                <a:latin typeface="Cambria"/>
                <a:cs typeface="Cambria"/>
              </a:rPr>
              <a:t>Insights</a:t>
            </a:r>
            <a:r>
              <a:rPr sz="4150" b="1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150" b="1" spc="275" dirty="0">
                <a:solidFill>
                  <a:srgbClr val="FFFFFF"/>
                </a:solidFill>
                <a:latin typeface="Cambria"/>
                <a:cs typeface="Cambria"/>
              </a:rPr>
              <a:t>from</a:t>
            </a:r>
            <a:r>
              <a:rPr sz="4150" b="1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150" b="1" spc="155" dirty="0">
                <a:solidFill>
                  <a:srgbClr val="FFFFFF"/>
                </a:solidFill>
                <a:latin typeface="Cambria"/>
                <a:cs typeface="Cambria"/>
              </a:rPr>
              <a:t>KPI</a:t>
            </a:r>
            <a:r>
              <a:rPr sz="4150" b="1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150" b="1" spc="-25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lang="en-US" sz="4150" b="1" spc="-25" dirty="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endParaRPr lang="en-US" sz="3450" b="1" spc="-25" dirty="0">
              <a:solidFill>
                <a:srgbClr val="FFFFFF"/>
              </a:solidFill>
              <a:latin typeface="Cambria"/>
              <a:cs typeface="Cambria"/>
            </a:endParaRPr>
          </a:p>
          <a:p>
            <a:pPr marL="584200" indent="-571500">
              <a:lnSpc>
                <a:spcPct val="100000"/>
              </a:lnSpc>
              <a:spcBef>
                <a:spcPts val="4790"/>
              </a:spcBef>
              <a:buFont typeface="Arial" panose="020B0604020202020204" pitchFamily="34" charset="0"/>
              <a:buChar char="•"/>
            </a:pPr>
            <a:r>
              <a:rPr lang="en-US" sz="4000" b="1" spc="-25" dirty="0">
                <a:solidFill>
                  <a:srgbClr val="FFFFFF"/>
                </a:solidFill>
                <a:latin typeface="Cambria"/>
                <a:cs typeface="Cambria"/>
              </a:rPr>
              <a:t>The pie chart shows that Sales Representatives, Healthcare Representatives, and Research Scientists are the top three roles in terms of headcount. Despite varying nature of roles, the work-life balance metric seems evenly distributed, suggesting no particular role is significantly outperforming others in terms of balance.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228DC9F-1ACF-493B-B958-BF7BC03528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7088" y="3773950"/>
            <a:ext cx="7759077" cy="48623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016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9600" y="232705"/>
            <a:ext cx="16611600" cy="2505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spc="204" dirty="0"/>
              <a:t>KPI</a:t>
            </a:r>
            <a:r>
              <a:rPr spc="130" dirty="0"/>
              <a:t> </a:t>
            </a:r>
            <a:r>
              <a:rPr lang="en-US" dirty="0"/>
              <a:t>–</a:t>
            </a:r>
            <a:r>
              <a:rPr lang="en-US" spc="-50" dirty="0"/>
              <a:t>3 </a:t>
            </a:r>
            <a:br>
              <a:rPr lang="en-US" spc="-50" dirty="0"/>
            </a:br>
            <a:r>
              <a:rPr lang="en-US" sz="5400" b="1" spc="229" dirty="0">
                <a:solidFill>
                  <a:srgbClr val="FFFFFF"/>
                </a:solidFill>
                <a:latin typeface="Cambria"/>
                <a:cs typeface="Cambria"/>
              </a:rPr>
              <a:t>Attrition</a:t>
            </a:r>
            <a:r>
              <a:rPr lang="en-US" sz="5400" b="1" spc="204" dirty="0">
                <a:solidFill>
                  <a:srgbClr val="FFFFFF"/>
                </a:solidFill>
                <a:latin typeface="Cambria"/>
                <a:cs typeface="Cambria"/>
              </a:rPr>
              <a:t> Rate </a:t>
            </a:r>
            <a:r>
              <a:rPr lang="en-US" sz="5400" b="1" spc="215" dirty="0">
                <a:solidFill>
                  <a:srgbClr val="FFFFFF"/>
                </a:solidFill>
                <a:latin typeface="Cambria"/>
                <a:cs typeface="Cambria"/>
              </a:rPr>
              <a:t>Vs</a:t>
            </a:r>
            <a:r>
              <a:rPr lang="en-US" sz="5400" b="1" spc="2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US" sz="5400" b="1" spc="265" dirty="0">
                <a:solidFill>
                  <a:srgbClr val="FFFFFF"/>
                </a:solidFill>
                <a:latin typeface="Cambria"/>
                <a:cs typeface="Cambria"/>
              </a:rPr>
              <a:t>Year Since Last Promotion</a:t>
            </a:r>
            <a:r>
              <a:rPr lang="en-US" sz="5400" dirty="0">
                <a:latin typeface="Cambria"/>
                <a:cs typeface="Cambria"/>
              </a:rPr>
              <a:t/>
            </a:r>
            <a:br>
              <a:rPr lang="en-US" sz="5400" dirty="0">
                <a:latin typeface="Cambria"/>
                <a:cs typeface="Cambria"/>
              </a:rPr>
            </a:br>
            <a:endParaRPr spc="-50" dirty="0"/>
          </a:p>
        </p:txBody>
      </p:sp>
      <p:sp>
        <p:nvSpPr>
          <p:cNvPr id="7" name="object 7"/>
          <p:cNvSpPr txBox="1"/>
          <p:nvPr/>
        </p:nvSpPr>
        <p:spPr>
          <a:xfrm>
            <a:off x="381000" y="3552081"/>
            <a:ext cx="9035332" cy="520270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0"/>
              </a:spcBef>
            </a:pPr>
            <a:r>
              <a:rPr sz="4100" b="1" spc="165" dirty="0">
                <a:solidFill>
                  <a:srgbClr val="FFFFFF"/>
                </a:solidFill>
                <a:latin typeface="Cambria"/>
                <a:cs typeface="Cambria"/>
              </a:rPr>
              <a:t>Insights</a:t>
            </a:r>
            <a:r>
              <a:rPr sz="4100" b="1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100" b="1" spc="270" dirty="0">
                <a:solidFill>
                  <a:srgbClr val="FFFFFF"/>
                </a:solidFill>
                <a:latin typeface="Cambria"/>
                <a:cs typeface="Cambria"/>
              </a:rPr>
              <a:t>from</a:t>
            </a:r>
            <a:r>
              <a:rPr sz="4100" b="1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100" b="1" spc="160" dirty="0">
                <a:solidFill>
                  <a:srgbClr val="FFFFFF"/>
                </a:solidFill>
                <a:latin typeface="Cambria"/>
                <a:cs typeface="Cambria"/>
              </a:rPr>
              <a:t>KPI</a:t>
            </a:r>
            <a:r>
              <a:rPr sz="4100" b="1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US" sz="4100" b="1" spc="130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4100" b="1" spc="1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100" b="1" spc="40" dirty="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endParaRPr lang="en-US" sz="4100" b="1" spc="40" dirty="0">
              <a:solidFill>
                <a:srgbClr val="FFFFFF"/>
              </a:solidFill>
              <a:latin typeface="Cambria"/>
              <a:cs typeface="Cambria"/>
            </a:endParaRPr>
          </a:p>
          <a:p>
            <a:pPr marL="584200" indent="-571500">
              <a:lnSpc>
                <a:spcPct val="100000"/>
              </a:lnSpc>
              <a:spcBef>
                <a:spcPts val="5250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bg1"/>
                </a:solidFill>
                <a:latin typeface="Cambria"/>
                <a:cs typeface="Cambria"/>
              </a:rPr>
              <a:t>This bar chart compares the attrition count against the number of years since an employee's last promotion. A key observation is that a high number of employees who haven't been promoted recently also contribute to a significant portion of the attrition count.</a:t>
            </a:r>
            <a:endParaRPr sz="3600" dirty="0">
              <a:solidFill>
                <a:schemeClr val="bg1"/>
              </a:solidFill>
              <a:latin typeface="Cambria"/>
              <a:cs typeface="Cambri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F08489-F6D4-413E-A62A-4F7BBC046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4876800"/>
            <a:ext cx="6858719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080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016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33800" y="153983"/>
            <a:ext cx="990600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pc="204" dirty="0"/>
              <a:t>SQL</a:t>
            </a:r>
            <a:r>
              <a:rPr lang="en-US" sz="5400" dirty="0">
                <a:latin typeface="Cambria"/>
                <a:cs typeface="Cambria"/>
              </a:rPr>
              <a:t/>
            </a:r>
            <a:br>
              <a:rPr lang="en-US" sz="5400" dirty="0">
                <a:latin typeface="Cambria"/>
                <a:cs typeface="Cambria"/>
              </a:rPr>
            </a:br>
            <a:endParaRPr spc="-50" dirty="0"/>
          </a:p>
        </p:txBody>
      </p:sp>
      <p:sp>
        <p:nvSpPr>
          <p:cNvPr id="7" name="object 7"/>
          <p:cNvSpPr txBox="1"/>
          <p:nvPr/>
        </p:nvSpPr>
        <p:spPr>
          <a:xfrm>
            <a:off x="370839" y="1333500"/>
            <a:ext cx="17526000" cy="864210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0"/>
              </a:spcBef>
            </a:pPr>
            <a:r>
              <a:rPr lang="en-US" sz="3200" dirty="0">
                <a:solidFill>
                  <a:schemeClr val="bg1"/>
                </a:solidFill>
                <a:latin typeface="+mn-lt"/>
              </a:rPr>
              <a:t>Structured Query Language (SQL) played a foundational role in preparing the HR dataset for analysis. It was used to </a:t>
            </a:r>
            <a:r>
              <a:rPr lang="en-US" sz="3200" b="1" dirty="0">
                <a:solidFill>
                  <a:schemeClr val="bg1"/>
                </a:solidFill>
                <a:latin typeface="+mn-lt"/>
              </a:rPr>
              <a:t>extract, clean, and transform</a:t>
            </a:r>
            <a:r>
              <a:rPr lang="en-US" sz="3200" dirty="0">
                <a:solidFill>
                  <a:schemeClr val="bg1"/>
                </a:solidFill>
                <a:latin typeface="+mn-lt"/>
              </a:rPr>
              <a:t> raw employee data stored in relational databases. Key operations included:</a:t>
            </a:r>
          </a:p>
          <a:p>
            <a:pPr marL="469900" indent="-457200">
              <a:lnSpc>
                <a:spcPct val="100000"/>
              </a:lnSpc>
              <a:spcBef>
                <a:spcPts val="5250"/>
              </a:spcBef>
              <a:buFont typeface="Arial" panose="020B0604020202020204" pitchFamily="34" charset="0"/>
              <a:buChar char="•"/>
            </a:pPr>
            <a:r>
              <a:rPr lang="en-US" sz="3200" b="1" spc="40" dirty="0">
                <a:solidFill>
                  <a:schemeClr val="bg1"/>
                </a:solidFill>
                <a:latin typeface="+mn-lt"/>
                <a:cs typeface="Cambria"/>
              </a:rPr>
              <a:t>Data Cleaning: Filtering out nulls, duplicates, and inconsistent job or department entries.</a:t>
            </a:r>
          </a:p>
          <a:p>
            <a:pPr marL="469900" indent="-457200">
              <a:lnSpc>
                <a:spcPct val="100000"/>
              </a:lnSpc>
              <a:spcBef>
                <a:spcPts val="5250"/>
              </a:spcBef>
              <a:buFont typeface="Arial" panose="020B0604020202020204" pitchFamily="34" charset="0"/>
              <a:buChar char="•"/>
            </a:pPr>
            <a:r>
              <a:rPr lang="en-US" sz="3200" b="1" spc="40" dirty="0">
                <a:solidFill>
                  <a:schemeClr val="bg1"/>
                </a:solidFill>
                <a:latin typeface="+mn-lt"/>
                <a:cs typeface="Cambria"/>
              </a:rPr>
              <a:t>Aggregation &amp; Calculations: Calculating department-wise attrition rates, average tenure, hourly compensation, and identifying last promotion years using GROUP BY, AVG(), DATEDIFF(), and CASE statements.</a:t>
            </a:r>
          </a:p>
          <a:p>
            <a:pPr marL="469900" indent="-457200">
              <a:lnSpc>
                <a:spcPct val="100000"/>
              </a:lnSpc>
              <a:spcBef>
                <a:spcPts val="5250"/>
              </a:spcBef>
              <a:buFont typeface="Arial" panose="020B0604020202020204" pitchFamily="34" charset="0"/>
              <a:buChar char="•"/>
            </a:pPr>
            <a:r>
              <a:rPr lang="en-US" sz="3200" b="1" spc="40" dirty="0">
                <a:solidFill>
                  <a:schemeClr val="bg1"/>
                </a:solidFill>
                <a:latin typeface="+mn-lt"/>
                <a:cs typeface="Cambria"/>
              </a:rPr>
              <a:t>Segmentation: Creating income buckets, tenure brackets, and gender/job role filters using CASE and WHERE clauses for dashboard interactivity.</a:t>
            </a:r>
          </a:p>
          <a:p>
            <a:pPr marL="469900" indent="-457200">
              <a:lnSpc>
                <a:spcPct val="100000"/>
              </a:lnSpc>
              <a:spcBef>
                <a:spcPts val="5250"/>
              </a:spcBef>
              <a:buFont typeface="Arial" panose="020B0604020202020204" pitchFamily="34" charset="0"/>
              <a:buChar char="•"/>
            </a:pPr>
            <a:r>
              <a:rPr lang="en-US" sz="3200" b="1" spc="40" dirty="0">
                <a:solidFill>
                  <a:schemeClr val="bg1"/>
                </a:solidFill>
                <a:latin typeface="+mn-lt"/>
                <a:cs typeface="Cambria"/>
              </a:rPr>
              <a:t>SQL ensured that only high-quality, structured data was passed into Power BI, enabling accurate visualizations and insights. It formed the backbone of our data pipeline, allowing for scalable and repeatable analytics.</a:t>
            </a:r>
          </a:p>
        </p:txBody>
      </p:sp>
    </p:spTree>
    <p:extLst>
      <p:ext uri="{BB962C8B-B14F-4D97-AF65-F5344CB8AC3E}">
        <p14:creationId xmlns:p14="http://schemas.microsoft.com/office/powerpoint/2010/main" val="1312189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0BA42-0C8B-A841-3BA8-6635C7D18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719468-8F4C-AC80-AAB4-69A1CF289A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68" y="150019"/>
            <a:ext cx="17949863" cy="998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45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043303-45FD-D54D-16FB-F67233EE94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897218-BD42-1FA0-36C5-D0A98AD1A3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13" y="190500"/>
            <a:ext cx="18080973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7028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7A1FE4-27AC-01F5-8E57-E6E58BD09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8F4C03-45A6-BEA2-0ECB-06DE2E358F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34" y="190500"/>
            <a:ext cx="17957131" cy="998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997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2D98A-1B0A-D288-2E04-D890FB3A0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24C4E7-1FD3-4611-A008-8CA6F0596C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90500"/>
            <a:ext cx="17754600" cy="975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222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664C5-952B-4197-2858-E21402F3C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11DE71-C65F-CDD5-DA14-693DC56FB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90500"/>
            <a:ext cx="176784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812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141CF-307D-6C0B-2573-04C52D038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3653E3-6D11-B5B1-5D06-5168DA387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28600"/>
            <a:ext cx="17830799" cy="982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316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A6C393-00C9-4862-A504-677138AD5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4A75C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A8FC98-02A6-4FC8-95CA-0C1FC999B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24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DBECD8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06810F-9B4D-41F0-A533-B87A7BB06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80"/>
            <a:ext cx="183261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C622AF-175E-482B-80CE-EE68FBE5CD84}"/>
              </a:ext>
            </a:extLst>
          </p:cNvPr>
          <p:cNvSpPr txBox="1"/>
          <p:nvPr/>
        </p:nvSpPr>
        <p:spPr>
          <a:xfrm>
            <a:off x="228600" y="3390900"/>
            <a:ext cx="105918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+mj-lt"/>
              </a:rPr>
              <a:t>The dashboard reveals serious challenges around employee attrition, particularly in Research &amp; Development, Sales, and mid-income employees. Despite long average tenures, high turnover persists, likely due to unmet career advancement expectations and unclear reward structures.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1"/>
              </a:solidFill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1"/>
                </a:solidFill>
                <a:latin typeface="+mj-lt"/>
              </a:rPr>
              <a:t>To address this, the company should prioritize improving internal promotion pathways, ensuring pay equity, and revisiting workload or recognition systems in high-turnover departments. Regular employee engagement surveys and personalized development plans could further enhance retention and morale.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Words>881</Words>
  <Application>Microsoft Office PowerPoint</Application>
  <PresentationFormat>Custom</PresentationFormat>
  <Paragraphs>57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Cambria</vt:lpstr>
      <vt:lpstr>Georgia</vt:lpstr>
      <vt:lpstr>Trebuchet MS</vt:lpstr>
      <vt:lpstr>Office Theme</vt:lpstr>
      <vt:lpstr>HR  ANALYTICS Employee Retention</vt:lpstr>
      <vt:lpstr>Agenda</vt:lpstr>
      <vt:lpstr>Introduction</vt:lpstr>
      <vt:lpstr>Problem Statement- KPI’s</vt:lpstr>
      <vt:lpstr>Business Objective</vt:lpstr>
      <vt:lpstr>KPI - 1</vt:lpstr>
      <vt:lpstr>KPI - 2 Average Hourly rate of Male Research Scientist</vt:lpstr>
      <vt:lpstr>KPI –3  Attrition Rate Vs Monthly Income Stats </vt:lpstr>
      <vt:lpstr>KPI - 4</vt:lpstr>
      <vt:lpstr>KPI - 5 Job Role Vs Work Life Balance for Total Employees  </vt:lpstr>
      <vt:lpstr>KPI –3  Attrition Rate Vs Year Since Last Promotion </vt:lpstr>
      <vt:lpstr>SQL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project.pptx</dc:title>
  <dc:creator>Shashank Pattar</dc:creator>
  <cp:keywords>DAGCLn61KQ0,BAEwdhABV40</cp:keywords>
  <cp:lastModifiedBy>DELL</cp:lastModifiedBy>
  <cp:revision>12</cp:revision>
  <dcterms:created xsi:type="dcterms:W3CDTF">2025-06-17T05:44:43Z</dcterms:created>
  <dcterms:modified xsi:type="dcterms:W3CDTF">2026-06-12T11:36:57Z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2024-05-14T00:00:00Z</vt:filetime>
  </property>
  <property fmtid="{D5CDD505-2E9C-101B-9397-08002B2CF9AE}" pid="3" name="Creator">
    <vt:lpwstr>Canva</vt:lpwstr>
  </property>
  <property fmtid="{D5CDD505-2E9C-101B-9397-08002B2CF9AE}" pid="4" name="LastSaved">
    <vt:filetime>2025-06-17T00:00:00Z</vt:filetime>
  </property>
  <property fmtid="{D5CDD505-2E9C-101B-9397-08002B2CF9AE}" pid="5" name="Producer">
    <vt:lpwstr>Canva</vt:lpwstr>
  </property>
</Properties>
</file>